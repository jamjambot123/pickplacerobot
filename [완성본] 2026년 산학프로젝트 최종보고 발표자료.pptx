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8" r:id="rId1"/>
  </p:sldMasterIdLst>
  <p:handoutMasterIdLst>
    <p:handoutMasterId r:id="rId12"/>
  </p:handoutMasterIdLst>
  <p:sldIdLst>
    <p:sldId id="260" r:id="rId2"/>
    <p:sldId id="261" r:id="rId3"/>
    <p:sldId id="271" r:id="rId4"/>
    <p:sldId id="272" r:id="rId5"/>
    <p:sldId id="276" r:id="rId6"/>
    <p:sldId id="264" r:id="rId7"/>
    <p:sldId id="293" r:id="rId8"/>
    <p:sldId id="266" r:id="rId9"/>
    <p:sldId id="294" r:id="rId10"/>
    <p:sldId id="268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5FA2"/>
    <a:srgbClr val="487483"/>
    <a:srgbClr val="81AAB9"/>
    <a:srgbClr val="424F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DA15C2-8ACE-4434-93D0-55D3D07A215C}" v="724" dt="2024-12-01T14:57:58.3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>
        <p:guide orient="horz" pos="2159"/>
        <p:guide pos="3839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 showGuides="1">
      <p:cViewPr varScale="1">
        <p:scale>
          <a:sx n="86" d="100"/>
          <a:sy n="86" d="100"/>
        </p:scale>
        <p:origin x="3864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470ECF07-8B4A-4D05-994F-50188D0885BA}" type="datetime1">
              <a:rPr lang="ko-KR" altLang="en-US"/>
              <a:pPr lvl="0">
                <a:defRPr/>
              </a:pPr>
              <a:t>2026-05-12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F51F3090-DBC0-4A7E-9680-4EB6FB727F4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microsoft.com/office/2007/relationships/hdphoto" Target="../media/hdphoto3.wdp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3C40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>
            <a:extLst>
              <a:ext uri="{FF2B5EF4-FFF2-40B4-BE49-F238E27FC236}">
                <a16:creationId xmlns:a16="http://schemas.microsoft.com/office/drawing/2014/main" id="{AB8BC8DA-946C-49A7-A054-82D74E62E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89000"/>
          </a:blip>
          <a:srcRect r="7371"/>
          <a:stretch/>
        </p:blipFill>
        <p:spPr>
          <a:xfrm rot="-162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3746C753-439E-4876-A7B3-3C02ED645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6438" y="3682629"/>
            <a:ext cx="3190187" cy="788142"/>
          </a:xfrm>
        </p:spPr>
        <p:txBody>
          <a:bodyPr>
            <a:noAutofit/>
          </a:bodyPr>
          <a:lstStyle>
            <a:lvl1pPr>
              <a:defRPr sz="3600">
                <a:ln w="19050">
                  <a:solidFill>
                    <a:schemeClr val="tx1"/>
                  </a:solidFill>
                </a:ln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39EEEEE-FBB4-4F58-A264-9D35CEF2EC9D}"/>
              </a:ext>
            </a:extLst>
          </p:cNvPr>
          <p:cNvSpPr txBox="1"/>
          <p:nvPr userDrawn="1"/>
        </p:nvSpPr>
        <p:spPr>
          <a:xfrm>
            <a:off x="479393" y="325748"/>
            <a:ext cx="4968907" cy="177642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2880"/>
              </a:lnSpc>
            </a:pPr>
            <a:r>
              <a:rPr lang="en-US" sz="4400" b="1" i="0" u="none" strike="noStrike" spc="-100" dirty="0">
                <a:ln w="9525">
                  <a:solidFill>
                    <a:srgbClr val="74A4CE"/>
                  </a:solidFill>
                </a:ln>
                <a:solidFill>
                  <a:srgbClr val="74A4C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 </a:t>
            </a:r>
            <a:r>
              <a:rPr lang="ko-KR" sz="4400" b="1" i="0" u="none" strike="noStrike" spc="-100" dirty="0">
                <a:ln w="9525">
                  <a:solidFill>
                    <a:srgbClr val="74A4CE"/>
                  </a:solidFill>
                </a:ln>
                <a:solidFill>
                  <a:srgbClr val="74A4C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산학프로젝트</a:t>
            </a:r>
          </a:p>
          <a:p>
            <a:pPr lvl="0" algn="l">
              <a:lnSpc>
                <a:spcPct val="112880"/>
              </a:lnSpc>
            </a:pPr>
            <a:r>
              <a:rPr lang="ko-KR" sz="4400" b="1" i="0" u="none" strike="noStrike" spc="-100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최종</a:t>
            </a:r>
            <a:r>
              <a:rPr lang="en-US" sz="4400" b="1" i="0" u="none" strike="noStrike" spc="-100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sz="4400" b="1" i="0" u="none" strike="noStrike" spc="-100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결과보고</a:t>
            </a:r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C4337F45-DFF6-43E6-92F6-0AEEC8AA50AC}"/>
              </a:ext>
            </a:extLst>
          </p:cNvPr>
          <p:cNvPicPr>
            <a:picLocks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67838" y="4554669"/>
            <a:ext cx="4320000" cy="54000"/>
          </a:xfrm>
          <a:prstGeom prst="rect">
            <a:avLst/>
          </a:prstGeom>
        </p:spPr>
      </p:pic>
      <p:sp>
        <p:nvSpPr>
          <p:cNvPr id="12" name="TextBox 5">
            <a:extLst>
              <a:ext uri="{FF2B5EF4-FFF2-40B4-BE49-F238E27FC236}">
                <a16:creationId xmlns:a16="http://schemas.microsoft.com/office/drawing/2014/main" id="{DD19DF55-7175-4851-BEC5-497B6530B669}"/>
              </a:ext>
            </a:extLst>
          </p:cNvPr>
          <p:cNvSpPr txBox="1"/>
          <p:nvPr userDrawn="1"/>
        </p:nvSpPr>
        <p:spPr>
          <a:xfrm>
            <a:off x="7322095" y="3670740"/>
            <a:ext cx="865743" cy="99774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2880"/>
              </a:lnSpc>
            </a:pPr>
            <a:r>
              <a:rPr lang="ko-KR" sz="4800" b="0" i="0" u="none" strike="noStrike" spc="-100" dirty="0">
                <a:ln w="19050"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팀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973CDF0A-8B81-4BD9-9B1E-B0E760BC0FDD}"/>
              </a:ext>
            </a:extLst>
          </p:cNvPr>
          <p:cNvSpPr txBox="1"/>
          <p:nvPr userDrawn="1"/>
        </p:nvSpPr>
        <p:spPr>
          <a:xfrm>
            <a:off x="10382250" y="6280150"/>
            <a:ext cx="1695450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2880"/>
              </a:lnSpc>
            </a:pPr>
            <a:r>
              <a:rPr lang="en-US" sz="1800" b="0" i="0" u="none" strike="noStrike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2026.06.19.(</a:t>
            </a:r>
            <a:r>
              <a:rPr lang="ko-KR" altLang="en-US" sz="1800" b="0" i="0" u="none" strike="noStrike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금</a:t>
            </a:r>
            <a:r>
              <a:rPr lang="en-US" sz="1800" b="0" i="0" u="none" strike="noStrike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728959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>
            <a:extLst>
              <a:ext uri="{FF2B5EF4-FFF2-40B4-BE49-F238E27FC236}">
                <a16:creationId xmlns:a16="http://schemas.microsoft.com/office/drawing/2014/main" id="{7D9DDD6A-9D12-4EE4-9FAC-4242E9BB11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38100"/>
            <a:ext cx="3011212" cy="6896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70E697-50EE-4212-BD5E-A4FD5BFE2221}"/>
              </a:ext>
            </a:extLst>
          </p:cNvPr>
          <p:cNvPicPr>
            <a:picLocks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684539"/>
            <a:ext cx="1800000" cy="25400"/>
          </a:xfrm>
          <a:prstGeom prst="rect">
            <a:avLst/>
          </a:prstGeom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734025E3-9BAC-4496-99C5-BDCAB26C77B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488537" y="709939"/>
            <a:ext cx="8381933" cy="5455190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AD08F-F24E-4D4B-B524-914D4D01D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8667" y="1076831"/>
            <a:ext cx="7866045" cy="4873625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ED95B35E-AD12-4786-9833-9C8CDBA9B08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제목 1">
            <a:extLst>
              <a:ext uri="{FF2B5EF4-FFF2-40B4-BE49-F238E27FC236}">
                <a16:creationId xmlns:a16="http://schemas.microsoft.com/office/drawing/2014/main" id="{5577DED6-D0B4-4A71-AE49-83F1CFDD9EF4}"/>
              </a:ext>
            </a:extLst>
          </p:cNvPr>
          <p:cNvSpPr txBox="1">
            <a:spLocks/>
          </p:cNvSpPr>
          <p:nvPr userDrawn="1"/>
        </p:nvSpPr>
        <p:spPr>
          <a:xfrm>
            <a:off x="321530" y="769796"/>
            <a:ext cx="147847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210 옴니고딕 050" panose="02020503020101020101" pitchFamily="18" charset="-127"/>
                <a:ea typeface="210 옴니고딕 050" panose="02020503020101020101" pitchFamily="18" charset="-127"/>
                <a:cs typeface="+mj-cs"/>
              </a:defRPr>
            </a:lvl1pPr>
          </a:lstStyle>
          <a:p>
            <a:pPr algn="ctr"/>
            <a:r>
              <a:rPr lang="ko-KR" altLang="en-US" sz="4400" b="1" spc="-150" dirty="0">
                <a:ln w="12700">
                  <a:solidFill>
                    <a:schemeClr val="bg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목 차</a:t>
            </a:r>
          </a:p>
        </p:txBody>
      </p:sp>
    </p:spTree>
    <p:extLst>
      <p:ext uri="{BB962C8B-B14F-4D97-AF65-F5344CB8AC3E}">
        <p14:creationId xmlns:p14="http://schemas.microsoft.com/office/powerpoint/2010/main" val="2952701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473534-C63C-4BE2-8AE1-910B0CFD5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DE581D8D-0164-42BB-AE04-13DC9D8AE677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1482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F4F84803-E557-424A-8CE8-D655ADAB7A0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6BBB87C3-C98E-40EB-AE97-7D085E7CF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151615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188D22A9-5ABA-4F30-991F-80E7F946C2B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7840FE-AACF-4A0B-B0B9-70DC06F63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A9BB8-66FC-4838-9828-E9D93A1C9099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28AC32-0DC9-4FB2-929A-67CB3591D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5A879E-7FCF-4C5B-B0C5-A405B1D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F627E-578B-48BF-9FB7-A4694A46FC6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F3A49051-3614-40BE-A95C-832BAF0A159C}"/>
              </a:ext>
            </a:extLst>
          </p:cNvPr>
          <p:cNvPicPr>
            <a:picLocks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D329C7BA-27D7-4A04-B2DE-5FAF98869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77672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1D46186D-573A-4905-BFBD-DFC37B18013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3F2C02C0-6C0F-4E28-966B-FD31BF9DD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81716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BF376951-512D-46E5-8E87-250E5DE788F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67E0C06-D8D8-4121-864B-A5F73D6D0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18175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8352E24-4DA0-4BD0-B268-ADB5D29051E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F189A157-3EDF-4157-89F9-327B96429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628445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483F9B2-6A25-44F7-9C63-38D9DD2BB4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8CC31740-3374-43BF-894C-368C8DDD4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886738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4495ED8-C5DE-43B4-A59A-34D7C3B6FC5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4E0CF941-EEB9-4BDA-B2F3-4A33AE87DC1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955EC6B2-1927-4116-A0AD-57672D95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57965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57A2AB65-7684-4324-B196-EDEB7D9C094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3FA2882F-C66D-4CCC-9019-8A1BB01FD03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1EC711E8-D0C3-41A8-87E1-9D593FBC3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4851137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F97F722D-593E-4596-9C86-3680CC09A43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46651367-6207-4BEA-9DDC-6AFD6411AF1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7E0AACDF-9E29-485F-B744-819F3EF02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43689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48FE58CB-093B-428D-81BB-2BDEC4994D2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7B7A1B8A-E825-47CD-896C-5A1A68F2682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3" name="제목 1">
            <a:extLst>
              <a:ext uri="{FF2B5EF4-FFF2-40B4-BE49-F238E27FC236}">
                <a16:creationId xmlns:a16="http://schemas.microsoft.com/office/drawing/2014/main" id="{6BD8E8C0-2800-4C8A-B578-F088300D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8064133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42334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33F9ED06-9F9C-4BFF-899D-D37917898C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BC891D15-29EB-4AAE-AE2E-1787AD9BB7C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56A1C9BB-0B32-4D5A-9C44-1028C9D7E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6677442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9CA52D79-F1AF-430C-B115-FECA21D08AA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5396DA61-DD5C-4E73-AD03-288E2A42DB6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8ACA527-9142-49DE-A842-9358B0012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051707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3C40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>
            <a:extLst>
              <a:ext uri="{FF2B5EF4-FFF2-40B4-BE49-F238E27FC236}">
                <a16:creationId xmlns:a16="http://schemas.microsoft.com/office/drawing/2014/main" id="{14A5B1FA-F86E-410B-AF4F-12669E5EB6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89000"/>
          </a:blip>
          <a:srcRect r="7371"/>
          <a:stretch/>
        </p:blipFill>
        <p:spPr>
          <a:xfrm rot="-162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12" name="TextBox 5">
            <a:extLst>
              <a:ext uri="{FF2B5EF4-FFF2-40B4-BE49-F238E27FC236}">
                <a16:creationId xmlns:a16="http://schemas.microsoft.com/office/drawing/2014/main" id="{DD19DF55-7175-4851-BEC5-497B6530B669}"/>
              </a:ext>
            </a:extLst>
          </p:cNvPr>
          <p:cNvSpPr txBox="1"/>
          <p:nvPr userDrawn="1"/>
        </p:nvSpPr>
        <p:spPr>
          <a:xfrm>
            <a:off x="3901581" y="2930129"/>
            <a:ext cx="4388836" cy="99774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2880"/>
              </a:lnSpc>
            </a:pPr>
            <a:r>
              <a:rPr lang="ko-KR" altLang="en-US" sz="5400" b="1" i="0" u="none" strike="noStrike" spc="-100" dirty="0">
                <a:ln w="19050"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  <a:endParaRPr lang="ko-KR" sz="5400" b="1" i="0" u="none" strike="noStrike" spc="-100" dirty="0">
              <a:ln w="19050">
                <a:solidFill>
                  <a:schemeClr val="tx1"/>
                </a:solidFill>
              </a:ln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3124CA4-27E4-4554-9E04-CC1D552CF804}"/>
              </a:ext>
            </a:extLst>
          </p:cNvPr>
          <p:cNvGrpSpPr/>
          <p:nvPr userDrawn="1"/>
        </p:nvGrpSpPr>
        <p:grpSpPr>
          <a:xfrm>
            <a:off x="268497" y="226317"/>
            <a:ext cx="1852404" cy="736947"/>
            <a:chOff x="268496" y="226317"/>
            <a:chExt cx="2037617" cy="81063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3A141048-1F2B-4FFC-A3B5-42C8B0FD13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496" y="226317"/>
              <a:ext cx="2037617" cy="810631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899421F-BBC0-40C7-8EBB-8903FB1AD20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2141" b="56679"/>
            <a:stretch/>
          </p:blipFill>
          <p:spPr>
            <a:xfrm>
              <a:off x="268496" y="226317"/>
              <a:ext cx="365100" cy="3523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2644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4D34EA0-DB69-4E40-ADBC-6BC7C89B3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E331F5-55C8-44E5-9E40-E310EEB8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3F115-27D0-46E0-A7C1-3CF2FF984D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9BB8-66FC-4838-9828-E9D93A1C9099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B76C4B-9F37-48BE-AE04-FF85EEFB4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5B87B5-D847-40F4-BBE8-8C3A1A057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7F627E-578B-48BF-9FB7-A4694A46FC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7619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0" r:id="rId3"/>
    <p:sldLayoutId id="2147483658" r:id="rId4"/>
    <p:sldLayoutId id="2147483668" r:id="rId5"/>
    <p:sldLayoutId id="2147483659" r:id="rId6"/>
    <p:sldLayoutId id="2147483660" r:id="rId7"/>
    <p:sldLayoutId id="2147483661" r:id="rId8"/>
    <p:sldLayoutId id="2147483662" r:id="rId9"/>
    <p:sldLayoutId id="214748365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7" r:id="rId16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4D44CE-8F81-4775-A3DE-B79F06E91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3500" y="3794811"/>
            <a:ext cx="3580245" cy="788142"/>
          </a:xfrm>
        </p:spPr>
        <p:txBody>
          <a:bodyPr/>
          <a:lstStyle/>
          <a:p>
            <a:r>
              <a:t>인풋쉐이핑 및 비대칭 S-curve 기반</a:t>
            </a:r>
          </a:p>
          <a:p>
            <a:r>
              <a:t>픽앤플레이스 갠트리 진동 제어 시스템 및 디지털 트윈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F65D4-091C-4698-A347-B3F1E8A52F14}"/>
              </a:ext>
            </a:extLst>
          </p:cNvPr>
          <p:cNvSpPr txBox="1"/>
          <p:nvPr/>
        </p:nvSpPr>
        <p:spPr>
          <a:xfrm>
            <a:off x="909897" y="2383793"/>
            <a:ext cx="10372206" cy="74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2026년 산학프로젝트 최종보고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ECE3EC-C628-4921-9D46-13AFDBEEC757}"/>
              </a:ext>
            </a:extLst>
          </p:cNvPr>
          <p:cNvSpPr txBox="1">
            <a:spLocks/>
          </p:cNvSpPr>
          <p:nvPr/>
        </p:nvSpPr>
        <p:spPr>
          <a:xfrm>
            <a:off x="9493779" y="5388661"/>
            <a:ext cx="2466975" cy="78814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ln w="19050">
                  <a:solidFill>
                    <a:schemeClr val="tx1"/>
                  </a:solidFill>
                </a:ln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defRPr/>
            </a:pPr>
            <a:r>
              <a:rPr lang="ko-KR" altLang="en-US" sz="1700" dirty="0">
                <a:ln w="12700">
                  <a:solidFill>
                    <a:schemeClr val="tx1"/>
                  </a:solidFill>
                </a:ln>
              </a:rPr>
              <a:t>지도교수</a:t>
            </a:r>
            <a:r>
              <a:rPr lang="en-US" altLang="ko-KR" sz="1700" dirty="0">
                <a:ln w="12700">
                  <a:solidFill>
                    <a:schemeClr val="tx1"/>
                  </a:solidFill>
                </a:ln>
              </a:rPr>
              <a:t>: 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700" dirty="0">
                <a:ln w="12700">
                  <a:solidFill>
                    <a:schemeClr val="tx1"/>
                  </a:solidFill>
                </a:ln>
              </a:rPr>
              <a:t>참여기업</a:t>
            </a:r>
            <a:r>
              <a:rPr lang="en-US" altLang="ko-KR" sz="1700" dirty="0">
                <a:ln w="12700">
                  <a:solidFill>
                    <a:schemeClr val="tx1"/>
                  </a:solidFill>
                </a:ln>
              </a:rPr>
              <a:t>:</a:t>
            </a:r>
            <a:endParaRPr lang="ko-KR" altLang="en-US" sz="1700" dirty="0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72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AI 기반 비대칭 S-Curve 궤적 최적화 및 인풋쉐이핑을 활용한</a:t>
            </a:r>
            <a:br/>
            <a:r>
              <a:t>반도체 픽앤플레이스 갠트리 진동 억제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4740"/>
            <a:ext cx="1072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B5563"/>
                </a:solidFill>
              </a:defRPr>
            </a:pPr>
            <a:r>
              <a:t>디지털 트윈 시뮬레이션 기반 성능 검증</a:t>
            </a:r>
          </a:p>
        </p:txBody>
      </p:sp>
    </p:spTree>
    <p:extLst>
      <p:ext uri="{BB962C8B-B14F-4D97-AF65-F5344CB8AC3E}">
        <p14:creationId xmlns:p14="http://schemas.microsoft.com/office/powerpoint/2010/main" val="132499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6CF6ABE-AAC6-4249-A9BF-815769E6E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8667" y="1051431"/>
            <a:ext cx="7866045" cy="4873625"/>
          </a:xfrm>
        </p:spPr>
        <p:txBody>
          <a:bodyPr>
            <a:normAutofit lnSpcReduction="10000"/>
          </a:bodyPr>
          <a:lstStyle/>
          <a:p>
            <a:r>
              <a:t>1. 연구 배경 및 목적</a:t>
            </a:r>
          </a:p>
          <a:p>
            <a:r>
              <a:t>2. 시스템 하드웨어 구성</a:t>
            </a:r>
          </a:p>
          <a:p>
            <a:r>
              <a:t>3. 핵심 제어 알고리즘 (AS-Curve &amp; Input Shaping)</a:t>
            </a:r>
          </a:p>
          <a:p>
            <a:r>
              <a:t>4. 디지털 트윈 시뮬레이션</a:t>
            </a:r>
          </a:p>
          <a:p>
            <a:r>
              <a:t>5. 실험 결과 및 결론 (UPH 향상)</a:t>
            </a:r>
          </a:p>
        </p:txBody>
      </p:sp>
    </p:spTree>
    <p:extLst>
      <p:ext uri="{BB962C8B-B14F-4D97-AF65-F5344CB8AC3E}">
        <p14:creationId xmlns:p14="http://schemas.microsoft.com/office/powerpoint/2010/main" val="1241648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681647-5B33-413F-A877-24C762A8345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545526"/>
          </a:xfrm>
        </p:spPr>
        <p:txBody>
          <a:bodyPr/>
          <a:lstStyle/>
          <a:p>
            <a:r>
              <a:t>• 반도체 패키징 공정에서 생산성(UPH) 향상을 위해 고속 이송 필수</a:t>
            </a:r>
          </a:p>
          <a:p>
            <a:r>
              <a:t>• 고속 이동 시 갠트리 탑재 로봇팔 끝단에 심각한 '잔류 진동' 발생</a:t>
            </a:r>
          </a:p>
          <a:p>
            <a:r>
              <a:t>• 진동 수렴을 기다리는 '정착 시간'으로 인해 실질적 UPH 저하 및 플레이스 오차 발생</a:t>
            </a:r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352D6379-53C2-4F0B-94B4-B184153C3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t>1. 연구 배경: 반도체 장비의 UPH 딜레마</a:t>
            </a:r>
          </a:p>
        </p:txBody>
      </p:sp>
      <p:graphicFrame>
        <p:nvGraphicFramePr>
          <p:cNvPr id="12" name="표 8">
            <a:extLst>
              <a:ext uri="{FF2B5EF4-FFF2-40B4-BE49-F238E27FC236}">
                <a16:creationId xmlns:a16="http://schemas.microsoft.com/office/drawing/2014/main" id="{2415E360-811D-4C2B-BAD2-249921FD8B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897133"/>
              </p:ext>
            </p:extLst>
          </p:nvPr>
        </p:nvGraphicFramePr>
        <p:xfrm>
          <a:off x="6187261" y="2170899"/>
          <a:ext cx="5162547" cy="3943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050">
                  <a:extLst>
                    <a:ext uri="{9D8B030D-6E8A-4147-A177-3AD203B41FA5}">
                      <a16:colId xmlns:a16="http://schemas.microsoft.com/office/drawing/2014/main" val="542425359"/>
                    </a:ext>
                  </a:extLst>
                </a:gridCol>
                <a:gridCol w="1742136">
                  <a:extLst>
                    <a:ext uri="{9D8B030D-6E8A-4147-A177-3AD203B41FA5}">
                      <a16:colId xmlns:a16="http://schemas.microsoft.com/office/drawing/2014/main" val="526377014"/>
                    </a:ext>
                  </a:extLst>
                </a:gridCol>
                <a:gridCol w="2347361">
                  <a:extLst>
                    <a:ext uri="{9D8B030D-6E8A-4147-A177-3AD203B41FA5}">
                      <a16:colId xmlns:a16="http://schemas.microsoft.com/office/drawing/2014/main" val="850207076"/>
                    </a:ext>
                  </a:extLst>
                </a:gridCol>
              </a:tblGrid>
              <a:tr h="5511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성   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소속학과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역할 및 수행내용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700386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1449178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185199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05301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8026838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4271029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99151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1234440"/>
            <a:ext cx="5364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F2937"/>
                </a:solidFill>
              </a:defRPr>
            </a:pPr>
            <a:r>
              <a:t>1. 연구 배경 및 목적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연구 배경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반도체 패키징의 Pick &amp; Place 로봇은 X-Gantry의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  고속 이동 시 잔류 진동이 발생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진동이 정착될 때까지 대기 → UPH 저하의 직접 원인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기존 사다리꼴 프로파일: 무한 저크 → 최대 진동 유발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연구 목적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AS-Curve 궤적 + ZVD 인풋쉐이핑으로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  잔류 진동을 근본 억제하여 UPH 극대화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디지털 트윈 시뮬레이션으로 정량적 검증</a:t>
            </a:r>
          </a:p>
        </p:txBody>
      </p:sp>
    </p:spTree>
    <p:extLst>
      <p:ext uri="{BB962C8B-B14F-4D97-AF65-F5344CB8AC3E}">
        <p14:creationId xmlns:p14="http://schemas.microsoft.com/office/powerpoint/2010/main" val="2974992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D4E99FE-FD46-40B0-8F40-0FD930251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024" y="273118"/>
            <a:ext cx="10517776" cy="1325563"/>
          </a:xfrm>
        </p:spPr>
        <p:txBody>
          <a:bodyPr/>
          <a:lstStyle/>
          <a:p>
            <a:r>
              <a:t>2. 시스템 하드웨어 및 통신 구조</a:t>
            </a:r>
          </a:p>
        </p:txBody>
      </p:sp>
      <p:sp>
        <p:nvSpPr>
          <p:cNvPr id="8" name="내용 개체 틀 1">
            <a:extLst>
              <a:ext uri="{FF2B5EF4-FFF2-40B4-BE49-F238E27FC236}">
                <a16:creationId xmlns:a16="http://schemas.microsoft.com/office/drawing/2014/main" id="{6C2C6767-7523-4A90-A575-13466820841E}"/>
              </a:ext>
            </a:extLst>
          </p:cNvPr>
          <p:cNvSpPr txBox="1">
            <a:spLocks/>
          </p:cNvSpPr>
          <p:nvPr/>
        </p:nvSpPr>
        <p:spPr>
          <a:xfrm>
            <a:off x="990601" y="2346960"/>
            <a:ext cx="10233660" cy="3710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• 제어부:</a:t>
            </a:r>
          </a:p>
          <a:p>
            <a:r>
              <a:t>  - STM32: 갠트리 X축 모션 제어 및 프로파일 생성</a:t>
            </a:r>
          </a:p>
          <a:p>
            <a:r>
              <a:t>  - Arduino: 다관절 로봇팔 제어</a:t>
            </a:r>
          </a:p>
          <a:p>
            <a:r>
              <a:t>  - UART 시리얼 통신으로 픽앤플레이스 동작 동기화</a:t>
            </a:r>
          </a:p>
          <a:p>
            <a:r>
              <a:t>• 센서부:</a:t>
            </a:r>
          </a:p>
          <a:p>
            <a:r>
              <a:t>  - MPU6050 IMU: 로봇팔 끝단에 부착하여 잔류 진동 가속도(g) 실시간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4828032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F2937"/>
                </a:solidFill>
              </a:defRPr>
            </a:pPr>
            <a:r>
              <a:t>2. 시스템 모델링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2-Mass Perfect Servo Model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Motor(m₁): 위치 명령 완벽 추종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Load(m₂): 스프링-댐퍼로 연결</a:t>
            </a:r>
          </a:p>
          <a:p>
            <a:pPr>
              <a:spcAft>
                <a:spcPts val="400"/>
              </a:spcAft>
              <a:defRPr sz="4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1F2937"/>
                </a:solidFill>
              </a:defRPr>
            </a:pPr>
            <a:r>
              <a:t>F = k·(x₁-x₂) + c·(ẋ₁-ẋ₂)</a:t>
            </a:r>
          </a:p>
          <a:p>
            <a:pPr>
              <a:spcAft>
                <a:spcPts val="400"/>
              </a:spcAft>
              <a:defRPr sz="1100" b="1">
                <a:solidFill>
                  <a:srgbClr val="1F2937"/>
                </a:solidFill>
              </a:defRPr>
            </a:pPr>
            <a:r>
              <a:t>a₂ = F / m₂</a:t>
            </a:r>
          </a:p>
          <a:p>
            <a:pPr>
              <a:spcAft>
                <a:spcPts val="400"/>
              </a:spcAft>
              <a:defRPr sz="4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수치 해석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RK4 적분 (10x substep, dt=0.1ms)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fn=10Hz, ζ=0.05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Payload 시 m₂ 2배 → fn 자연 하락</a:t>
            </a:r>
          </a:p>
        </p:txBody>
      </p:sp>
      <p:pic>
        <p:nvPicPr>
          <p:cNvPr id="10" name="Picture 9" descr="system_diagram_17810311578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8760"/>
            <a:ext cx="5486400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403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DAD14-AA69-66A4-15E3-DE06DEC7F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317AC5E-A390-CBB0-7301-FDCDE6BCB93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>
            <a:normAutofit/>
          </a:bodyPr>
          <a:lstStyle/>
          <a:p>
            <a:r>
              <a:t>① Trapezoidal: 일정 가감속, 높은 저크 발생 (비교 기준)</a:t>
            </a:r>
          </a:p>
          <a:p>
            <a:r>
              <a:t>② 비대칭 S-Curve: 가속 구간은 빠르게, 감속 구간은 부드럽게 설정하여 물리적 충격 저감</a:t>
            </a:r>
          </a:p>
          <a:p>
            <a:r>
              <a:t>③ Input Shaping + AS-Curve: 로봇의 고유진동수를 기반으로 ZV/ZVD 쉐이퍼를 설계하여 진동 자체를 원천 상쇄 (Cancel-out)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7C52FD0E-4664-C123-321A-E2030F117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024" y="273118"/>
            <a:ext cx="10517776" cy="1325563"/>
          </a:xfrm>
        </p:spPr>
        <p:txBody>
          <a:bodyPr anchor="ctr">
            <a:normAutofit/>
          </a:bodyPr>
          <a:lstStyle/>
          <a:p>
            <a:r>
              <a:t>3. 핵심 제어 알고리즘: 단계별 모션 프로파일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234440"/>
            <a:ext cx="4291584" cy="445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F2937"/>
                </a:solidFill>
              </a:defRPr>
            </a:pPr>
            <a:r>
              <a:t>3. 모션 프로파일 비교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1F2937"/>
                </a:solidFill>
              </a:defRPr>
            </a:pPr>
            <a:r>
              <a:t>■ Trapezoidal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  순간 가속도 변화 → 최대 진동</a:t>
            </a:r>
          </a:p>
          <a:p>
            <a:pPr>
              <a:spcAft>
                <a:spcPts val="400"/>
              </a:spcAft>
              <a:defRPr sz="1100" b="1">
                <a:solidFill>
                  <a:srgbClr val="1F2937"/>
                </a:solidFill>
              </a:defRPr>
            </a:pPr>
            <a:r>
              <a:t>■ AS-Curve (비대칭 S-Curve)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  7-segment 저크 제한 → 충격 완화</a:t>
            </a:r>
          </a:p>
          <a:p>
            <a:pPr>
              <a:spcAft>
                <a:spcPts val="400"/>
              </a:spcAft>
              <a:defRPr sz="1100" b="1">
                <a:solidFill>
                  <a:srgbClr val="1F2937"/>
                </a:solidFill>
              </a:defRPr>
            </a:pPr>
            <a:r>
              <a:t>■ AS-Curve + ZVD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  인풋쉐이핑으로 진동 근본 상쇄</a:t>
            </a:r>
          </a:p>
        </p:txBody>
      </p:sp>
      <p:pic>
        <p:nvPicPr>
          <p:cNvPr id="15" name="Picture 14" descr="chart5_3profil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14500"/>
            <a:ext cx="67056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472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E6558A-8F8D-4019-B552-F9B4D1731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t>4. 디지털 트윈 시뮬레이터 구축</a:t>
            </a:r>
          </a:p>
        </p:txBody>
      </p:sp>
      <p:sp>
        <p:nvSpPr>
          <p:cNvPr id="5" name="내용 개체 틀 1">
            <a:extLst>
              <a:ext uri="{FF2B5EF4-FFF2-40B4-BE49-F238E27FC236}">
                <a16:creationId xmlns:a16="http://schemas.microsoft.com/office/drawing/2014/main" id="{3935D491-BCD3-40F9-8E42-2ADFB5CF5F46}"/>
              </a:ext>
            </a:extLst>
          </p:cNvPr>
          <p:cNvSpPr txBox="1">
            <a:spLocks/>
          </p:cNvSpPr>
          <p:nvPr/>
        </p:nvSpPr>
        <p:spPr>
          <a:xfrm>
            <a:off x="990601" y="2346960"/>
            <a:ext cx="10233660" cy="3710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• 이론 및 하드웨어 실험을 넘어 웹 기반 3D 디지털 트윈 구축</a:t>
            </a:r>
          </a:p>
          <a:p>
            <a:r>
              <a:t>• 고해상도 실시간 분석 차트 (위치, 속도, 가속도, 진동 오차)</a:t>
            </a:r>
          </a:p>
          <a:p>
            <a:r>
              <a:t>• AI 오토튜닝 (PSO 알고리즘) 적용:</a:t>
            </a:r>
          </a:p>
          <a:p>
            <a:r>
              <a:t>  - 갠트리의 한계 속도 내에서 최적의 파라미터(V_max, A_max, Beta, Gamma)를 자동 탐색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4506163" cy="445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F2937"/>
                </a:solidFill>
              </a:defRPr>
            </a:pPr>
            <a:r>
              <a:t>4. 인풋쉐이핑 원리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ZVD (Zero Vibration &amp; Derivative)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3개 임펄스를 반주기 간격으로 배치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파괴적 간섭 → 잔류 진동 이론적 0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지연: ~100ms (이동 시간 대비 매우 짧음)</a:t>
            </a:r>
          </a:p>
          <a:p>
            <a:pPr>
              <a:spcAft>
                <a:spcPts val="400"/>
              </a:spcAft>
              <a:defRPr sz="4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ZVD vs ZV vs EI 강건성 비교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ZVD: fn 오차 ±15%까지 진동 5% 이하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EI: 가장 넓은 강건성 대역폭</a:t>
            </a:r>
          </a:p>
        </p:txBody>
      </p:sp>
      <p:pic>
        <p:nvPicPr>
          <p:cNvPr id="7" name="Picture 6" descr="chart3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1371600"/>
            <a:ext cx="6339840" cy="356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043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DAD14-AA69-66A4-15E3-DE06DEC7F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C52FD0E-4664-C123-321A-E2030F117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024" y="273118"/>
            <a:ext cx="10517776" cy="1325563"/>
          </a:xfrm>
        </p:spPr>
        <p:txBody>
          <a:bodyPr anchor="ctr">
            <a:normAutofit/>
          </a:bodyPr>
          <a:lstStyle/>
          <a:p>
            <a:r>
              <a:t>5. 검증 결과 및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4291584" cy="445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F2937"/>
                </a:solidFill>
              </a:defRPr>
            </a:pPr>
            <a:r>
              <a:t>5. 디지털 트윈 시뮬레이터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구현 기술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Three.js 3D 실시간 렌더링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Shaped vs Unshaped 동시 비교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Chart.js 4채널 실시간 차트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AI PSO 자동 파라미터 튜닝</a:t>
            </a:r>
          </a:p>
          <a:p>
            <a:pPr>
              <a:spcAft>
                <a:spcPts val="400"/>
              </a:spcAft>
              <a:defRPr sz="4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우측: 잔류 진동 파형 비교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  (Trapezoidal vs AS-Curve+ZVD)</a:t>
            </a:r>
          </a:p>
        </p:txBody>
      </p:sp>
      <p:pic>
        <p:nvPicPr>
          <p:cNvPr id="7" name="Picture 6" descr="chart1_vibration_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08760"/>
            <a:ext cx="67056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564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732CD98C-2524-490E-B091-37956DF64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rPr lang="en-US" altLang="ko-KR" dirty="0"/>
              <a:t>05  </a:t>
            </a:r>
            <a:r>
              <a:rPr lang="ko-KR" altLang="en-US" dirty="0"/>
              <a:t>결과분석 및 토의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1371600"/>
          <a:ext cx="536448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120"/>
                <a:gridCol w="1341120"/>
                <a:gridCol w="1341120"/>
                <a:gridCol w="1341120"/>
              </a:tblGrid>
              <a:tr h="5212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Trapezoidal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AS-Curve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AS-Curve+ZVD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이동 시간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0.1000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0.0950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A56DB"/>
                          </a:solidFill>
                        </a:defRPr>
                      </a:pPr>
                      <a:r>
                        <a:t>0.0950 s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잔류 진동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17.47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24.66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A56DB"/>
                          </a:solidFill>
                        </a:defRPr>
                      </a:pPr>
                      <a:r>
                        <a:t>4.29 mm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정착 시간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2.660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2.815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A56DB"/>
                          </a:solidFill>
                        </a:defRPr>
                      </a:pPr>
                      <a:r>
                        <a:t>0.197 s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UPH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676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A56DB"/>
                          </a:solidFill>
                        </a:defRPr>
                      </a:pPr>
                      <a:r>
                        <a:t>9,137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114800"/>
            <a:ext cx="536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</a:defRPr>
            </a:pPr>
            <a:r>
              <a:t>조건: V=1,000 mm/s, A=20,000 mm/s², fn=10Hz, ζ=0.05, 거리=50mm</a:t>
            </a:r>
          </a:p>
        </p:txBody>
      </p:sp>
      <p:pic>
        <p:nvPicPr>
          <p:cNvPr id="14" name="Picture 13" descr="chart2_uph_vs_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840" y="1371600"/>
            <a:ext cx="5364480" cy="2880360"/>
          </a:xfrm>
          <a:prstGeom prst="rect">
            <a:avLst/>
          </a:prstGeom>
        </p:spPr>
      </p:pic>
      <p:pic>
        <p:nvPicPr>
          <p:cNvPr id="15" name="Picture 14" descr="chart4_settle_vs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840" y="4251960"/>
            <a:ext cx="5364480" cy="22631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" y="1028700"/>
            <a:ext cx="1072896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3A5F"/>
                </a:solidFill>
              </a:defRPr>
            </a:pPr>
            <a:r>
              <a:t>6. 실험 결과 — 동일 조건 비교 + 파라미터 스윕</a:t>
            </a:r>
          </a:p>
        </p:txBody>
      </p:sp>
    </p:spTree>
    <p:extLst>
      <p:ext uri="{BB962C8B-B14F-4D97-AF65-F5344CB8AC3E}">
        <p14:creationId xmlns:p14="http://schemas.microsoft.com/office/powerpoint/2010/main" val="1379630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1">
            <a:extLst>
              <a:ext uri="{FF2B5EF4-FFF2-40B4-BE49-F238E27FC236}">
                <a16:creationId xmlns:a16="http://schemas.microsoft.com/office/drawing/2014/main" id="{2BF84C12-1F95-4BA7-B4F9-322B99ECC12D}"/>
              </a:ext>
            </a:extLst>
          </p:cNvPr>
          <p:cNvSpPr txBox="1">
            <a:spLocks/>
          </p:cNvSpPr>
          <p:nvPr/>
        </p:nvSpPr>
        <p:spPr>
          <a:xfrm>
            <a:off x="990601" y="2346960"/>
            <a:ext cx="10233660" cy="3710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ko-KR" altLang="en-US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2CBCBB7-3DD4-49C7-B3C2-154239747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rPr lang="en-US" altLang="ko-KR" dirty="0"/>
              <a:t>06  </a:t>
            </a:r>
            <a:r>
              <a:rPr lang="ko-KR" altLang="en-US" dirty="0" err="1"/>
              <a:t>느낀점</a:t>
            </a:r>
            <a:r>
              <a:rPr lang="ko-KR" altLang="en-US" dirty="0"/>
              <a:t> 및 애로사항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4506163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F2937"/>
                </a:solidFill>
              </a:defRPr>
            </a:pPr>
            <a:r>
              <a:t>7. 핵심 결론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정량적 성과 (Trapezoidal 대비)</a:t>
            </a:r>
          </a:p>
          <a:p>
            <a:pPr>
              <a:spcAft>
                <a:spcPts val="400"/>
              </a:spcAft>
              <a:defRPr sz="1100" b="0">
                <a:solidFill>
                  <a:srgbClr val="1F2937"/>
                </a:solidFill>
              </a:defRPr>
            </a:pPr>
            <a:r>
              <a:t>• 잔류 진동 75.4% 감소</a:t>
            </a:r>
          </a:p>
          <a:p>
            <a:pPr>
              <a:spcAft>
                <a:spcPts val="400"/>
              </a:spcAft>
              <a:defRPr sz="1100" b="0">
                <a:solidFill>
                  <a:srgbClr val="1F2937"/>
                </a:solidFill>
              </a:defRPr>
            </a:pPr>
            <a:r>
              <a:t>• 정착 시간 92.6% 단축 (2.66s → 0.20s)</a:t>
            </a:r>
          </a:p>
          <a:p>
            <a:pPr>
              <a:spcAft>
                <a:spcPts val="400"/>
              </a:spcAft>
              <a:defRPr sz="1100" b="0">
                <a:solidFill>
                  <a:srgbClr val="1F2937"/>
                </a:solidFill>
              </a:defRPr>
            </a:pPr>
            <a:r>
              <a:t>• UPH 1,252% 향상 (676 → 9,137)</a:t>
            </a:r>
          </a:p>
          <a:p>
            <a:pPr>
              <a:spcAft>
                <a:spcPts val="400"/>
              </a:spcAft>
              <a:defRPr sz="600" b="0">
                <a:solidFill>
                  <a:srgbClr val="1F2937"/>
                </a:solidFill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1F2937"/>
                </a:solidFill>
              </a:defRPr>
            </a:pPr>
            <a:r>
              <a:t>■ 한계점 및 향후 과제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Perfect Servo 가정 (추종 오차 미반영)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단일 축(X) 모델 → 다축 커플링 미고려</a:t>
            </a:r>
          </a:p>
          <a:p>
            <a:pPr>
              <a:spcAft>
                <a:spcPts val="400"/>
              </a:spcAft>
              <a:defRPr sz="1000" b="0">
                <a:solidFill>
                  <a:srgbClr val="1F2937"/>
                </a:solidFill>
              </a:defRPr>
            </a:pPr>
            <a:r>
              <a:t>• 향후: STM32 + IMU 실물 검증</a:t>
            </a:r>
          </a:p>
        </p:txBody>
      </p:sp>
      <p:pic>
        <p:nvPicPr>
          <p:cNvPr id="9" name="Picture 8" descr="chart6_econo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1508760"/>
            <a:ext cx="633984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972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48000" y="2400300"/>
            <a:ext cx="60960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5F"/>
                </a:solidFill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48000" y="3566160"/>
            <a:ext cx="609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7280"/>
                </a:solidFill>
              </a:defRPr>
            </a:pPr>
            <a:r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4288557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50</Words>
  <Application>Microsoft Office PowerPoint</Application>
  <PresentationFormat>와이드스크린</PresentationFormat>
  <Paragraphs>21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210 옴니고딕 030</vt:lpstr>
      <vt:lpstr>맑은 고딕</vt:lpstr>
      <vt:lpstr>Arial</vt:lpstr>
      <vt:lpstr>Office 테마</vt:lpstr>
      <vt:lpstr>팀명</vt:lpstr>
      <vt:lpstr>PowerPoint 프레젠테이션</vt:lpstr>
      <vt:lpstr>01  프로젝트 제작동기</vt:lpstr>
      <vt:lpstr>02  프로젝트 제작과정</vt:lpstr>
      <vt:lpstr>02  프로젝트 제작과정</vt:lpstr>
      <vt:lpstr>03  작품설명</vt:lpstr>
      <vt:lpstr>04  프로젝트 결과</vt:lpstr>
      <vt:lpstr>05  결과분석 및 토의</vt:lpstr>
      <vt:lpstr>06  느낀점 및 애로사항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HOSEO</dc:creator>
  <cp:lastModifiedBy>HOSEO</cp:lastModifiedBy>
  <cp:revision>32</cp:revision>
  <dcterms:created xsi:type="dcterms:W3CDTF">2024-11-07T00:27:54Z</dcterms:created>
  <dcterms:modified xsi:type="dcterms:W3CDTF">2026-05-12T07:50:59Z</dcterms:modified>
  <cp:version/>
</cp:coreProperties>
</file>