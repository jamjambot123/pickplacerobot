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8" r:id="rId1"/>
  </p:sldMasterIdLst>
  <p:handoutMasterIdLst>
    <p:handoutMasterId r:id="rId12"/>
  </p:handoutMasterIdLst>
  <p:sldIdLst>
    <p:sldId id="260" r:id="rId2"/>
    <p:sldId id="261" r:id="rId3"/>
    <p:sldId id="271" r:id="rId4"/>
    <p:sldId id="272" r:id="rId5"/>
    <p:sldId id="276" r:id="rId6"/>
    <p:sldId id="264" r:id="rId7"/>
    <p:sldId id="293" r:id="rId8"/>
    <p:sldId id="266" r:id="rId9"/>
    <p:sldId id="294" r:id="rId10"/>
    <p:sldId id="268" r:id="rId11"/>
    <p:sldId id="295" r:id="rId18"/>
    <p:sldId id="296" r:id="rId19"/>
    <p:sldId id="297" r:id="rId20"/>
    <p:sldId id="298" r:id="rId21"/>
    <p:sldId id="299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5FA2"/>
    <a:srgbClr val="487483"/>
    <a:srgbClr val="81AAB9"/>
    <a:srgbClr val="424F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DA15C2-8ACE-4434-93D0-55D3D07A215C}" v="724" dt="2024-12-01T14:57:58.3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588" y="108"/>
      </p:cViewPr>
      <p:guideLst>
        <p:guide orient="horz" pos="2159"/>
        <p:guide pos="3839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 showGuides="1">
      <p:cViewPr varScale="1">
        <p:scale>
          <a:sx n="86" d="100"/>
          <a:sy n="86" d="100"/>
        </p:scale>
        <p:origin x="3864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5/10/relationships/revisionInfo" Target="revisionInfo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470ECF07-8B4A-4D05-994F-50188D0885BA}" type="datetime1">
              <a:rPr lang="ko-KR" altLang="en-US"/>
              <a:pPr lvl="0">
                <a:defRPr/>
              </a:pPr>
              <a:t>2026-05-12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F51F3090-DBC0-4A7E-9680-4EB6FB727F4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microsoft.com/office/2007/relationships/hdphoto" Target="../media/hdphoto3.wdp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3C40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>
            <a:extLst>
              <a:ext uri="{FF2B5EF4-FFF2-40B4-BE49-F238E27FC236}">
                <a16:creationId xmlns:a16="http://schemas.microsoft.com/office/drawing/2014/main" id="{AB8BC8DA-946C-49A7-A054-82D74E62E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89000"/>
          </a:blip>
          <a:srcRect r="7371"/>
          <a:stretch/>
        </p:blipFill>
        <p:spPr>
          <a:xfrm rot="-162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3746C753-439E-4876-A7B3-3C02ED645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6438" y="3682629"/>
            <a:ext cx="3190187" cy="788142"/>
          </a:xfrm>
        </p:spPr>
        <p:txBody>
          <a:bodyPr>
            <a:noAutofit/>
          </a:bodyPr>
          <a:lstStyle>
            <a:lvl1pPr>
              <a:defRPr sz="3600">
                <a:ln w="19050">
                  <a:solidFill>
                    <a:schemeClr val="tx1"/>
                  </a:solidFill>
                </a:ln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739EEEEE-FBB4-4F58-A264-9D35CEF2EC9D}"/>
              </a:ext>
            </a:extLst>
          </p:cNvPr>
          <p:cNvSpPr txBox="1"/>
          <p:nvPr userDrawn="1"/>
        </p:nvSpPr>
        <p:spPr>
          <a:xfrm>
            <a:off x="479393" y="325748"/>
            <a:ext cx="4968907" cy="1776429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2880"/>
              </a:lnSpc>
            </a:pPr>
            <a:r>
              <a:rPr lang="en-US" sz="4400" b="1" i="0" u="none" strike="noStrike" spc="-100" dirty="0">
                <a:ln w="9525">
                  <a:solidFill>
                    <a:srgbClr val="74A4CE"/>
                  </a:solidFill>
                </a:ln>
                <a:solidFill>
                  <a:srgbClr val="74A4C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 </a:t>
            </a:r>
            <a:r>
              <a:rPr lang="ko-KR" sz="4400" b="1" i="0" u="none" strike="noStrike" spc="-100" dirty="0">
                <a:ln w="9525">
                  <a:solidFill>
                    <a:srgbClr val="74A4CE"/>
                  </a:solidFill>
                </a:ln>
                <a:solidFill>
                  <a:srgbClr val="74A4CE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산학프로젝트</a:t>
            </a:r>
          </a:p>
          <a:p>
            <a:pPr lvl="0" algn="l">
              <a:lnSpc>
                <a:spcPct val="112880"/>
              </a:lnSpc>
            </a:pPr>
            <a:r>
              <a:rPr lang="ko-KR" sz="4400" b="1" i="0" u="none" strike="noStrike" spc="-100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최종</a:t>
            </a:r>
            <a:r>
              <a:rPr lang="en-US" sz="4400" b="1" i="0" u="none" strike="noStrike" spc="-100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sz="4400" b="1" i="0" u="none" strike="noStrike" spc="-100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결과보고</a:t>
            </a:r>
          </a:p>
        </p:txBody>
      </p:sp>
      <p:pic>
        <p:nvPicPr>
          <p:cNvPr id="11" name="Picture 3">
            <a:extLst>
              <a:ext uri="{FF2B5EF4-FFF2-40B4-BE49-F238E27FC236}">
                <a16:creationId xmlns:a16="http://schemas.microsoft.com/office/drawing/2014/main" id="{C4337F45-DFF6-43E6-92F6-0AEEC8AA50AC}"/>
              </a:ext>
            </a:extLst>
          </p:cNvPr>
          <p:cNvPicPr>
            <a:picLocks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67838" y="4554669"/>
            <a:ext cx="4320000" cy="54000"/>
          </a:xfrm>
          <a:prstGeom prst="rect">
            <a:avLst/>
          </a:prstGeom>
        </p:spPr>
      </p:pic>
      <p:sp>
        <p:nvSpPr>
          <p:cNvPr id="12" name="TextBox 5">
            <a:extLst>
              <a:ext uri="{FF2B5EF4-FFF2-40B4-BE49-F238E27FC236}">
                <a16:creationId xmlns:a16="http://schemas.microsoft.com/office/drawing/2014/main" id="{DD19DF55-7175-4851-BEC5-497B6530B669}"/>
              </a:ext>
            </a:extLst>
          </p:cNvPr>
          <p:cNvSpPr txBox="1"/>
          <p:nvPr userDrawn="1"/>
        </p:nvSpPr>
        <p:spPr>
          <a:xfrm>
            <a:off x="7322095" y="3670740"/>
            <a:ext cx="865743" cy="99774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2880"/>
              </a:lnSpc>
            </a:pPr>
            <a:r>
              <a:rPr lang="ko-KR" sz="4800" b="0" i="0" u="none" strike="noStrike" spc="-100" dirty="0">
                <a:ln w="19050"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팀</a:t>
            </a: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973CDF0A-8B81-4BD9-9B1E-B0E760BC0FDD}"/>
              </a:ext>
            </a:extLst>
          </p:cNvPr>
          <p:cNvSpPr txBox="1"/>
          <p:nvPr userDrawn="1"/>
        </p:nvSpPr>
        <p:spPr>
          <a:xfrm>
            <a:off x="10382250" y="6280150"/>
            <a:ext cx="1695450" cy="533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2880"/>
              </a:lnSpc>
            </a:pPr>
            <a:r>
              <a:rPr lang="en-US" sz="1800" b="0" i="0" u="none" strike="noStrike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2026.06.19.(</a:t>
            </a:r>
            <a:r>
              <a:rPr lang="ko-KR" altLang="en-US" sz="1800" b="0" i="0" u="none" strike="noStrike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금</a:t>
            </a:r>
            <a:r>
              <a:rPr lang="en-US" sz="1800" b="0" i="0" u="none" strike="noStrike" dirty="0">
                <a:ln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728959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>
            <a:extLst>
              <a:ext uri="{FF2B5EF4-FFF2-40B4-BE49-F238E27FC236}">
                <a16:creationId xmlns:a16="http://schemas.microsoft.com/office/drawing/2014/main" id="{7D9DDD6A-9D12-4EE4-9FAC-4242E9BB11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38100"/>
            <a:ext cx="3011212" cy="6896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70E697-50EE-4212-BD5E-A4FD5BFE2221}"/>
              </a:ext>
            </a:extLst>
          </p:cNvPr>
          <p:cNvPicPr>
            <a:picLocks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684539"/>
            <a:ext cx="1800000" cy="25400"/>
          </a:xfrm>
          <a:prstGeom prst="rect">
            <a:avLst/>
          </a:prstGeom>
        </p:spPr>
      </p:pic>
      <p:pic>
        <p:nvPicPr>
          <p:cNvPr id="12" name="Picture 6">
            <a:extLst>
              <a:ext uri="{FF2B5EF4-FFF2-40B4-BE49-F238E27FC236}">
                <a16:creationId xmlns:a16="http://schemas.microsoft.com/office/drawing/2014/main" id="{734025E3-9BAC-4496-99C5-BDCAB26C77B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488537" y="709939"/>
            <a:ext cx="8381933" cy="5455190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AD08F-F24E-4D4B-B524-914D4D01D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8667" y="1076831"/>
            <a:ext cx="7866045" cy="4873625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ED95B35E-AD12-4786-9833-9C8CDBA9B08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7" name="제목 1">
            <a:extLst>
              <a:ext uri="{FF2B5EF4-FFF2-40B4-BE49-F238E27FC236}">
                <a16:creationId xmlns:a16="http://schemas.microsoft.com/office/drawing/2014/main" id="{5577DED6-D0B4-4A71-AE49-83F1CFDD9EF4}"/>
              </a:ext>
            </a:extLst>
          </p:cNvPr>
          <p:cNvSpPr txBox="1">
            <a:spLocks/>
          </p:cNvSpPr>
          <p:nvPr userDrawn="1"/>
        </p:nvSpPr>
        <p:spPr>
          <a:xfrm>
            <a:off x="321530" y="769796"/>
            <a:ext cx="147847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210 옴니고딕 050" panose="02020503020101020101" pitchFamily="18" charset="-127"/>
                <a:ea typeface="210 옴니고딕 050" panose="02020503020101020101" pitchFamily="18" charset="-127"/>
                <a:cs typeface="+mj-cs"/>
              </a:defRPr>
            </a:lvl1pPr>
          </a:lstStyle>
          <a:p>
            <a:pPr algn="ctr"/>
            <a:r>
              <a:rPr lang="ko-KR" altLang="en-US" sz="4400" b="1" spc="-150" dirty="0">
                <a:ln w="12700">
                  <a:solidFill>
                    <a:schemeClr val="bg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목 차</a:t>
            </a:r>
          </a:p>
        </p:txBody>
      </p:sp>
    </p:spTree>
    <p:extLst>
      <p:ext uri="{BB962C8B-B14F-4D97-AF65-F5344CB8AC3E}">
        <p14:creationId xmlns:p14="http://schemas.microsoft.com/office/powerpoint/2010/main" val="2952701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1473534-C63C-4BE2-8AE1-910B0CFD5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DE581D8D-0164-42BB-AE04-13DC9D8AE677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1482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F4F84803-E557-424A-8CE8-D655ADAB7A0B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6BBB87C3-C98E-40EB-AE97-7D085E7CF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151615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188D22A9-5ABA-4F30-991F-80E7F946C2B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7840FE-AACF-4A0B-B0B9-70DC06F63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A9BB8-66FC-4838-9828-E9D93A1C9099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28AC32-0DC9-4FB2-929A-67CB3591D6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5A879E-7FCF-4C5B-B0C5-A405B1DE4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7F627E-578B-48BF-9FB7-A4694A46FC6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F3A49051-3614-40BE-A95C-832BAF0A159C}"/>
              </a:ext>
            </a:extLst>
          </p:cNvPr>
          <p:cNvPicPr>
            <a:picLocks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D329C7BA-27D7-4A04-B2DE-5FAF98869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77672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1D46186D-573A-4905-BFBD-DFC37B18013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3F2C02C0-6C0F-4E28-966B-FD31BF9DD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81716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BF376951-512D-46E5-8E87-250E5DE788F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67E0C06-D8D8-4121-864B-A5F73D6D0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18175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38352E24-4DA0-4BD0-B268-ADB5D29051E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F189A157-3EDF-4157-89F9-327B96429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628445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 가로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BAE45DA2-1BBA-42FD-900A-5F016A2C1F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8" name="Picture 6">
            <a:extLst>
              <a:ext uri="{FF2B5EF4-FFF2-40B4-BE49-F238E27FC236}">
                <a16:creationId xmlns:a16="http://schemas.microsoft.com/office/drawing/2014/main" id="{C2793A40-4C43-4200-AB25-E6D0E12D27F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50900" y="2241688"/>
            <a:ext cx="10515600" cy="3940037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7537A580-D906-4BA4-985B-A1B9C6B6954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7DF0AF74-4151-461D-BE99-1805D871D96E}"/>
              </a:ext>
            </a:extLst>
          </p:cNvPr>
          <p:cNvPicPr>
            <a:picLocks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483F9B2-6A25-44F7-9C63-38D9DD2BB4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50901" y="2241688"/>
            <a:ext cx="10490200" cy="3917767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8CC31740-3374-43BF-894C-368C8DDD4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886738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64495ED8-C5DE-43B4-A59A-34D7C3B6FC5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4E0CF941-EEB9-4BDA-B2F3-4A33AE87DC1A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955EC6B2-1927-4116-A0AD-57672D953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157965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57A2AB65-7684-4324-B196-EDEB7D9C094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3FA2882F-C66D-4CCC-9019-8A1BB01FD03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1EC711E8-D0C3-41A8-87E1-9D593FBC3B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4851137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F97F722D-593E-4596-9C86-3680CC09A43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46651367-6207-4BEA-9DDC-6AFD6411AF1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7E0AACDF-9E29-485F-B744-819F3EF02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43689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48FE58CB-093B-428D-81BB-2BDEC4994D2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7B7A1B8A-E825-47CD-896C-5A1A68F2682E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3" name="제목 1">
            <a:extLst>
              <a:ext uri="{FF2B5EF4-FFF2-40B4-BE49-F238E27FC236}">
                <a16:creationId xmlns:a16="http://schemas.microsoft.com/office/drawing/2014/main" id="{6BD8E8C0-2800-4C8A-B578-F088300D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8064133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42334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33F9ED06-9F9C-4BFF-899D-D37917898C1F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BC891D15-29EB-4AAE-AE2E-1787AD9BB7C1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56A1C9BB-0B32-4D5A-9C44-1028C9D7E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6677442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 분할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6">
            <a:extLst>
              <a:ext uri="{FF2B5EF4-FFF2-40B4-BE49-F238E27FC236}">
                <a16:creationId xmlns:a16="http://schemas.microsoft.com/office/drawing/2014/main" id="{C59F1EDD-AA3D-4638-80CF-F8CACB889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38200" y="2121830"/>
            <a:ext cx="5181600" cy="4055131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34112DC-8B9E-4E73-8792-621593C055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1871801"/>
          </a:xfrm>
          <a:prstGeom prst="rect">
            <a:avLst/>
          </a:prstGeom>
        </p:spPr>
      </p:pic>
      <p:pic>
        <p:nvPicPr>
          <p:cNvPr id="15" name="Picture 6">
            <a:extLst>
              <a:ext uri="{FF2B5EF4-FFF2-40B4-BE49-F238E27FC236}">
                <a16:creationId xmlns:a16="http://schemas.microsoft.com/office/drawing/2014/main" id="{CB0F51B9-9B72-461E-883D-79A2498FEF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78550" y="2121829"/>
            <a:ext cx="5181600" cy="4055131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0745D1CC-5042-47C4-8DF7-80F90456D01F}"/>
              </a:ext>
            </a:extLst>
          </p:cNvPr>
          <p:cNvPicPr>
            <a:picLocks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032000" y="498574"/>
            <a:ext cx="2160000" cy="25400"/>
          </a:xfrm>
          <a:prstGeom prst="rect">
            <a:avLst/>
          </a:prstGeom>
        </p:spPr>
      </p:pic>
      <p:pic>
        <p:nvPicPr>
          <p:cNvPr id="18" name="Picture 9">
            <a:extLst>
              <a:ext uri="{FF2B5EF4-FFF2-40B4-BE49-F238E27FC236}">
                <a16:creationId xmlns:a16="http://schemas.microsoft.com/office/drawing/2014/main" id="{13C73F10-D3D1-4ABE-A399-5F97925329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570482" y="6254671"/>
            <a:ext cx="1513114" cy="501630"/>
          </a:xfrm>
          <a:prstGeom prst="rect">
            <a:avLst/>
          </a:prstGeom>
        </p:spPr>
      </p:pic>
      <p:sp>
        <p:nvSpPr>
          <p:cNvPr id="17" name="내용 개체 틀 2">
            <a:extLst>
              <a:ext uri="{FF2B5EF4-FFF2-40B4-BE49-F238E27FC236}">
                <a16:creationId xmlns:a16="http://schemas.microsoft.com/office/drawing/2014/main" id="{9CA52D79-F1AF-430C-B115-FECA21D08AA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5396DA61-DD5C-4E73-AD03-288E2A42DB6C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/>
          <a:lstStyle>
            <a:lvl1pPr>
              <a:defRPr sz="2800">
                <a:ln>
                  <a:solidFill>
                    <a:schemeClr val="tx1"/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28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24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2000">
                <a:ln w="6350">
                  <a:noFill/>
                </a:ln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8ACA527-9142-49DE-A842-9358B0012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>
            <a:lvl1pPr>
              <a:defRPr b="1">
                <a:ln w="19050">
                  <a:solidFill>
                    <a:schemeClr val="bg1"/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051707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solidFill>
          <a:srgbClr val="3C40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>
            <a:extLst>
              <a:ext uri="{FF2B5EF4-FFF2-40B4-BE49-F238E27FC236}">
                <a16:creationId xmlns:a16="http://schemas.microsoft.com/office/drawing/2014/main" id="{14A5B1FA-F86E-410B-AF4F-12669E5EB6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89000"/>
          </a:blip>
          <a:srcRect r="7371"/>
          <a:stretch/>
        </p:blipFill>
        <p:spPr>
          <a:xfrm rot="-162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12" name="TextBox 5">
            <a:extLst>
              <a:ext uri="{FF2B5EF4-FFF2-40B4-BE49-F238E27FC236}">
                <a16:creationId xmlns:a16="http://schemas.microsoft.com/office/drawing/2014/main" id="{DD19DF55-7175-4851-BEC5-497B6530B669}"/>
              </a:ext>
            </a:extLst>
          </p:cNvPr>
          <p:cNvSpPr txBox="1"/>
          <p:nvPr userDrawn="1"/>
        </p:nvSpPr>
        <p:spPr>
          <a:xfrm>
            <a:off x="3901581" y="2930129"/>
            <a:ext cx="4388836" cy="997741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2880"/>
              </a:lnSpc>
            </a:pPr>
            <a:r>
              <a:rPr lang="ko-KR" altLang="en-US" sz="5400" b="1" i="0" u="none" strike="noStrike" spc="-100" dirty="0">
                <a:ln w="19050">
                  <a:solidFill>
                    <a:schemeClr val="tx1"/>
                  </a:solidFill>
                </a:ln>
                <a:solidFill>
                  <a:srgbClr val="FFFFFF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  <a:endParaRPr lang="ko-KR" sz="5400" b="1" i="0" u="none" strike="noStrike" spc="-100" dirty="0">
              <a:ln w="19050">
                <a:solidFill>
                  <a:schemeClr val="tx1"/>
                </a:solidFill>
              </a:ln>
              <a:solidFill>
                <a:srgbClr val="FFFF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3124CA4-27E4-4554-9E04-CC1D552CF804}"/>
              </a:ext>
            </a:extLst>
          </p:cNvPr>
          <p:cNvGrpSpPr/>
          <p:nvPr userDrawn="1"/>
        </p:nvGrpSpPr>
        <p:grpSpPr>
          <a:xfrm>
            <a:off x="268497" y="226317"/>
            <a:ext cx="1852404" cy="736947"/>
            <a:chOff x="268496" y="226317"/>
            <a:chExt cx="2037617" cy="81063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3A141048-1F2B-4FFC-A3B5-42C8B0FD13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496" y="226317"/>
              <a:ext cx="2037617" cy="810631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899421F-BBC0-40C7-8EBB-8903FB1AD20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2141" b="56679"/>
            <a:stretch/>
          </p:blipFill>
          <p:spPr>
            <a:xfrm>
              <a:off x="268496" y="226317"/>
              <a:ext cx="365100" cy="3523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2644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4D34EA0-DB69-4E40-ADBC-6BC7C89B3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E331F5-55C8-44E5-9E40-E310EEB81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73F115-27D0-46E0-A7C1-3CF2FF984D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A9BB8-66FC-4838-9828-E9D93A1C9099}" type="datetimeFigureOut">
              <a:rPr lang="ko-KR" altLang="en-US" smtClean="0"/>
              <a:t>2026-05-12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B76C4B-9F37-48BE-AE04-FF85EEFB4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5B87B5-D847-40F4-BBE8-8C3A1A057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7F627E-578B-48BF-9FB7-A4694A46FC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7619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0" r:id="rId3"/>
    <p:sldLayoutId id="2147483658" r:id="rId4"/>
    <p:sldLayoutId id="2147483668" r:id="rId5"/>
    <p:sldLayoutId id="2147483659" r:id="rId6"/>
    <p:sldLayoutId id="2147483660" r:id="rId7"/>
    <p:sldLayoutId id="2147483661" r:id="rId8"/>
    <p:sldLayoutId id="2147483662" r:id="rId9"/>
    <p:sldLayoutId id="214748365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7" r:id="rId16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4D44CE-8F81-4775-A3DE-B79F06E91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3500" y="3794811"/>
            <a:ext cx="3580245" cy="788142"/>
          </a:xfrm>
        </p:spPr>
        <p:txBody>
          <a:bodyPr/>
          <a:lstStyle/>
          <a:p>
            <a:pPr algn="r"/>
            <a:r>
              <a:rPr lang="ko-KR" altLang="en-US" dirty="0" err="1"/>
              <a:t>팀명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0F65D4-091C-4698-A347-B3F1E8A52F14}"/>
              </a:ext>
            </a:extLst>
          </p:cNvPr>
          <p:cNvSpPr txBox="1"/>
          <p:nvPr/>
        </p:nvSpPr>
        <p:spPr>
          <a:xfrm>
            <a:off x="909897" y="2383793"/>
            <a:ext cx="10372206" cy="74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ctr" fontAlgn="base" latinLnBrk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3500" kern="0" spc="0" dirty="0">
                <a:effectLst/>
                <a:latin typeface="+mj-lt"/>
                <a:ea typeface="YD윤고딕 320" panose="02020603020101020101" pitchFamily="18" charset="-127"/>
              </a:rPr>
              <a:t>연구주제</a:t>
            </a:r>
            <a:endParaRPr lang="ko-KR" altLang="en-US" sz="3500" kern="0" spc="0" dirty="0">
              <a:effectLst/>
              <a:latin typeface="+mj-lt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ECE3EC-C628-4921-9D46-13AFDBEEC757}"/>
              </a:ext>
            </a:extLst>
          </p:cNvPr>
          <p:cNvSpPr txBox="1">
            <a:spLocks/>
          </p:cNvSpPr>
          <p:nvPr/>
        </p:nvSpPr>
        <p:spPr>
          <a:xfrm>
            <a:off x="9493779" y="5388661"/>
            <a:ext cx="2466975" cy="78814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ln w="19050">
                  <a:solidFill>
                    <a:schemeClr val="tx1"/>
                  </a:solidFill>
                </a:ln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  <a:defRPr/>
            </a:pPr>
            <a:r>
              <a:rPr lang="ko-KR" altLang="en-US" sz="1700" dirty="0">
                <a:ln w="12700">
                  <a:solidFill>
                    <a:schemeClr val="tx1"/>
                  </a:solidFill>
                </a:ln>
              </a:rPr>
              <a:t>지도교수</a:t>
            </a:r>
            <a:r>
              <a:rPr lang="en-US" altLang="ko-KR" sz="1700" dirty="0">
                <a:ln w="12700">
                  <a:solidFill>
                    <a:schemeClr val="tx1"/>
                  </a:solidFill>
                </a:ln>
              </a:rPr>
              <a:t>: 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700" dirty="0">
                <a:ln w="12700">
                  <a:solidFill>
                    <a:schemeClr val="tx1"/>
                  </a:solidFill>
                </a:ln>
              </a:rPr>
              <a:t>참여기업</a:t>
            </a:r>
            <a:r>
              <a:rPr lang="en-US" altLang="ko-KR" sz="1700" dirty="0">
                <a:ln w="12700">
                  <a:solidFill>
                    <a:schemeClr val="tx1"/>
                  </a:solidFill>
                </a:ln>
              </a:rPr>
              <a:t>:</a:t>
            </a:r>
            <a:endParaRPr lang="ko-KR" altLang="en-US" sz="1700" dirty="0">
              <a:ln w="12700"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32499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6CF6ABE-AAC6-4249-A9BF-815769E6E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8667" y="1051431"/>
            <a:ext cx="7866045" cy="4873625"/>
          </a:xfrm>
        </p:spPr>
        <p:txBody>
          <a:bodyPr>
            <a:normAutofit lnSpcReduction="10000"/>
          </a:bodyPr>
          <a:lstStyle/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ko-KR" altLang="en-US" dirty="0">
                <a:ln w="19050">
                  <a:solidFill>
                    <a:schemeClr val="tx1"/>
                  </a:solidFill>
                </a:ln>
              </a:rPr>
              <a:t>프로젝트 제작동기</a:t>
            </a:r>
            <a:endParaRPr lang="en-US" altLang="ko-KR" dirty="0">
              <a:ln w="19050">
                <a:solidFill>
                  <a:schemeClr val="tx1"/>
                </a:solidFill>
              </a:ln>
            </a:endParaRP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ko-KR" altLang="en-US" dirty="0">
                <a:ln w="19050">
                  <a:solidFill>
                    <a:schemeClr val="tx1"/>
                  </a:solidFill>
                </a:ln>
              </a:rPr>
              <a:t>프로젝트 제작과정</a:t>
            </a:r>
            <a:endParaRPr lang="en-US" altLang="ko-KR" dirty="0">
              <a:ln w="19050">
                <a:solidFill>
                  <a:schemeClr val="tx1"/>
                </a:solidFill>
              </a:ln>
            </a:endParaRP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ko-KR" altLang="en-US" dirty="0">
                <a:ln w="19050">
                  <a:solidFill>
                    <a:schemeClr val="tx1"/>
                  </a:solidFill>
                </a:ln>
              </a:rPr>
              <a:t>작품설명</a:t>
            </a:r>
            <a:endParaRPr lang="en-US" altLang="ko-KR" dirty="0">
              <a:ln w="19050">
                <a:solidFill>
                  <a:schemeClr val="tx1"/>
                </a:solidFill>
              </a:ln>
            </a:endParaRP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ko-KR" altLang="en-US" dirty="0">
                <a:ln w="19050">
                  <a:solidFill>
                    <a:schemeClr val="tx1"/>
                  </a:solidFill>
                </a:ln>
              </a:rPr>
              <a:t>프로젝트 결과</a:t>
            </a:r>
            <a:endParaRPr lang="en-US" altLang="ko-KR" dirty="0">
              <a:ln w="19050">
                <a:solidFill>
                  <a:schemeClr val="tx1"/>
                </a:solidFill>
              </a:ln>
            </a:endParaRP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ko-KR" altLang="en-US" dirty="0">
                <a:ln w="19050">
                  <a:solidFill>
                    <a:schemeClr val="tx1"/>
                  </a:solidFill>
                </a:ln>
              </a:rPr>
              <a:t>결과분석 및 토의</a:t>
            </a:r>
            <a:endParaRPr lang="en-US" altLang="ko-KR" dirty="0">
              <a:ln w="19050">
                <a:solidFill>
                  <a:schemeClr val="tx1"/>
                </a:solidFill>
              </a:ln>
            </a:endParaRPr>
          </a:p>
          <a:p>
            <a:pPr marL="514350" indent="-514350">
              <a:lnSpc>
                <a:spcPct val="170000"/>
              </a:lnSpc>
              <a:buFont typeface="+mj-lt"/>
              <a:buAutoNum type="arabicPeriod"/>
            </a:pPr>
            <a:r>
              <a:rPr lang="ko-KR" altLang="en-US" dirty="0" err="1">
                <a:ln w="19050">
                  <a:solidFill>
                    <a:schemeClr val="tx1"/>
                  </a:solidFill>
                </a:ln>
              </a:rPr>
              <a:t>느낀점</a:t>
            </a:r>
            <a:r>
              <a:rPr lang="ko-KR" altLang="en-US" dirty="0">
                <a:ln w="19050">
                  <a:solidFill>
                    <a:schemeClr val="tx1"/>
                  </a:solidFill>
                </a:ln>
              </a:rPr>
              <a:t> 및 애로사항</a:t>
            </a:r>
          </a:p>
        </p:txBody>
      </p:sp>
    </p:spTree>
    <p:extLst>
      <p:ext uri="{BB962C8B-B14F-4D97-AF65-F5344CB8AC3E}">
        <p14:creationId xmlns:p14="http://schemas.microsoft.com/office/powerpoint/2010/main" val="1241648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E681647-5B33-413F-A877-24C762A8345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842192" y="2144920"/>
            <a:ext cx="5162550" cy="545526"/>
          </a:xfrm>
        </p:spPr>
        <p:txBody>
          <a:bodyPr/>
          <a:lstStyle/>
          <a:p>
            <a:pPr marL="0" indent="0" algn="ctr">
              <a:buNone/>
            </a:pPr>
            <a:r>
              <a:rPr lang="ko-KR" altLang="en-US" dirty="0"/>
              <a:t>작품배경 및 동기</a:t>
            </a:r>
            <a:endParaRPr lang="en-US" altLang="ko-KR" dirty="0"/>
          </a:p>
          <a:p>
            <a:pPr marL="0" indent="0" algn="ctr">
              <a:buNone/>
            </a:pPr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352D6379-53C2-4F0B-94B4-B184153C3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/>
          <a:p>
            <a:r>
              <a:rPr lang="en-US" altLang="ko-KR" dirty="0"/>
              <a:t>01  </a:t>
            </a:r>
            <a:r>
              <a:rPr lang="ko-KR" altLang="en-US" dirty="0"/>
              <a:t>프로젝트 제작동기</a:t>
            </a:r>
          </a:p>
        </p:txBody>
      </p:sp>
      <p:graphicFrame>
        <p:nvGraphicFramePr>
          <p:cNvPr id="12" name="표 8">
            <a:extLst>
              <a:ext uri="{FF2B5EF4-FFF2-40B4-BE49-F238E27FC236}">
                <a16:creationId xmlns:a16="http://schemas.microsoft.com/office/drawing/2014/main" id="{2415E360-811D-4C2B-BAD2-249921FD8B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897133"/>
              </p:ext>
            </p:extLst>
          </p:nvPr>
        </p:nvGraphicFramePr>
        <p:xfrm>
          <a:off x="6187261" y="2170899"/>
          <a:ext cx="5162547" cy="3943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050">
                  <a:extLst>
                    <a:ext uri="{9D8B030D-6E8A-4147-A177-3AD203B41FA5}">
                      <a16:colId xmlns:a16="http://schemas.microsoft.com/office/drawing/2014/main" val="542425359"/>
                    </a:ext>
                  </a:extLst>
                </a:gridCol>
                <a:gridCol w="1742136">
                  <a:extLst>
                    <a:ext uri="{9D8B030D-6E8A-4147-A177-3AD203B41FA5}">
                      <a16:colId xmlns:a16="http://schemas.microsoft.com/office/drawing/2014/main" val="526377014"/>
                    </a:ext>
                  </a:extLst>
                </a:gridCol>
                <a:gridCol w="2347361">
                  <a:extLst>
                    <a:ext uri="{9D8B030D-6E8A-4147-A177-3AD203B41FA5}">
                      <a16:colId xmlns:a16="http://schemas.microsoft.com/office/drawing/2014/main" val="850207076"/>
                    </a:ext>
                  </a:extLst>
                </a:gridCol>
              </a:tblGrid>
              <a:tr h="5511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성   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소속학과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역할 및 수행내용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1700386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1449178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1185199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05301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8026838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4271029"/>
                  </a:ext>
                </a:extLst>
              </a:tr>
              <a:tr h="565380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210 옴니고딕 030" panose="02020503020101020101" pitchFamily="18" charset="-127"/>
                        <a:ea typeface="210 옴니고딕 030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9915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4992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D4E99FE-FD46-40B0-8F40-0FD930251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024" y="273118"/>
            <a:ext cx="10517776" cy="1325563"/>
          </a:xfrm>
        </p:spPr>
        <p:txBody>
          <a:bodyPr/>
          <a:lstStyle/>
          <a:p>
            <a:r>
              <a:rPr lang="en-US" altLang="ko-KR" dirty="0"/>
              <a:t>02  </a:t>
            </a:r>
            <a:r>
              <a:rPr lang="ko-KR" altLang="en-US" dirty="0"/>
              <a:t>프로젝트 제작과정</a:t>
            </a:r>
          </a:p>
        </p:txBody>
      </p:sp>
      <p:sp>
        <p:nvSpPr>
          <p:cNvPr id="8" name="내용 개체 틀 1">
            <a:extLst>
              <a:ext uri="{FF2B5EF4-FFF2-40B4-BE49-F238E27FC236}">
                <a16:creationId xmlns:a16="http://schemas.microsoft.com/office/drawing/2014/main" id="{6C2C6767-7523-4A90-A575-13466820841E}"/>
              </a:ext>
            </a:extLst>
          </p:cNvPr>
          <p:cNvSpPr txBox="1">
            <a:spLocks/>
          </p:cNvSpPr>
          <p:nvPr/>
        </p:nvSpPr>
        <p:spPr>
          <a:xfrm>
            <a:off x="990601" y="2346960"/>
            <a:ext cx="10233660" cy="3710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ko-KR" altLang="en-US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0403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DAD14-AA69-66A4-15E3-DE06DEC7F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317AC5E-A390-CBB0-7301-FDCDE6BCB93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172202" y="2144920"/>
            <a:ext cx="5162550" cy="4014536"/>
          </a:xfrm>
        </p:spPr>
        <p:txBody>
          <a:bodyPr>
            <a:normAutofit/>
          </a:bodyPr>
          <a:lstStyle/>
          <a:p>
            <a:endParaRPr lang="en-US" altLang="ko-KR" sz="23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7C52FD0E-4664-C123-321A-E2030F117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024" y="273118"/>
            <a:ext cx="10517776" cy="1325563"/>
          </a:xfrm>
        </p:spPr>
        <p:txBody>
          <a:bodyPr anchor="ctr">
            <a:normAutofit/>
          </a:bodyPr>
          <a:lstStyle/>
          <a:p>
            <a:r>
              <a:rPr lang="en-US" altLang="ko-KR" dirty="0"/>
              <a:t>02  </a:t>
            </a:r>
            <a:r>
              <a:rPr lang="ko-KR" altLang="en-US" dirty="0"/>
              <a:t>프로젝트 제작과정</a:t>
            </a:r>
          </a:p>
        </p:txBody>
      </p:sp>
    </p:spTree>
    <p:extLst>
      <p:ext uri="{BB962C8B-B14F-4D97-AF65-F5344CB8AC3E}">
        <p14:creationId xmlns:p14="http://schemas.microsoft.com/office/powerpoint/2010/main" val="3412472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E6558A-8F8D-4019-B552-F9B4D1731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/>
          <a:p>
            <a:r>
              <a:rPr lang="en-US" altLang="ko-KR" dirty="0"/>
              <a:t>03  </a:t>
            </a:r>
            <a:r>
              <a:rPr lang="ko-KR" altLang="en-US" dirty="0"/>
              <a:t>작품설명</a:t>
            </a:r>
          </a:p>
        </p:txBody>
      </p:sp>
      <p:sp>
        <p:nvSpPr>
          <p:cNvPr id="5" name="내용 개체 틀 1">
            <a:extLst>
              <a:ext uri="{FF2B5EF4-FFF2-40B4-BE49-F238E27FC236}">
                <a16:creationId xmlns:a16="http://schemas.microsoft.com/office/drawing/2014/main" id="{3935D491-BCD3-40F9-8E42-2ADFB5CF5F46}"/>
              </a:ext>
            </a:extLst>
          </p:cNvPr>
          <p:cNvSpPr txBox="1">
            <a:spLocks/>
          </p:cNvSpPr>
          <p:nvPr/>
        </p:nvSpPr>
        <p:spPr>
          <a:xfrm>
            <a:off x="990601" y="2346960"/>
            <a:ext cx="10233660" cy="3710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ko-KR" altLang="en-US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4043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DAD14-AA69-66A4-15E3-DE06DEC7F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7C52FD0E-4664-C123-321A-E2030F117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024" y="273118"/>
            <a:ext cx="10517776" cy="1325563"/>
          </a:xfrm>
        </p:spPr>
        <p:txBody>
          <a:bodyPr anchor="ctr">
            <a:normAutofit/>
          </a:bodyPr>
          <a:lstStyle/>
          <a:p>
            <a:r>
              <a:rPr lang="en-US" altLang="ko-KR" dirty="0"/>
              <a:t>04  </a:t>
            </a:r>
            <a:r>
              <a:rPr lang="ko-KR" altLang="en-US" dirty="0"/>
              <a:t>프로젝트 결과</a:t>
            </a:r>
          </a:p>
        </p:txBody>
      </p:sp>
    </p:spTree>
    <p:extLst>
      <p:ext uri="{BB962C8B-B14F-4D97-AF65-F5344CB8AC3E}">
        <p14:creationId xmlns:p14="http://schemas.microsoft.com/office/powerpoint/2010/main" val="2437564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732CD98C-2524-490E-B091-37956DF64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/>
          <a:p>
            <a:r>
              <a:rPr lang="en-US" altLang="ko-KR" dirty="0"/>
              <a:t>05  </a:t>
            </a:r>
            <a:r>
              <a:rPr lang="ko-KR" altLang="en-US" dirty="0"/>
              <a:t>결과분석 및 토의</a:t>
            </a:r>
          </a:p>
        </p:txBody>
      </p:sp>
    </p:spTree>
    <p:extLst>
      <p:ext uri="{BB962C8B-B14F-4D97-AF65-F5344CB8AC3E}">
        <p14:creationId xmlns:p14="http://schemas.microsoft.com/office/powerpoint/2010/main" val="1379630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1">
            <a:extLst>
              <a:ext uri="{FF2B5EF4-FFF2-40B4-BE49-F238E27FC236}">
                <a16:creationId xmlns:a16="http://schemas.microsoft.com/office/drawing/2014/main" id="{2BF84C12-1F95-4BA7-B4F9-322B99ECC12D}"/>
              </a:ext>
            </a:extLst>
          </p:cNvPr>
          <p:cNvSpPr txBox="1">
            <a:spLocks/>
          </p:cNvSpPr>
          <p:nvPr/>
        </p:nvSpPr>
        <p:spPr>
          <a:xfrm>
            <a:off x="990601" y="2346960"/>
            <a:ext cx="10233660" cy="3710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ko-KR" altLang="en-US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2CBCBB7-3DD4-49C7-B3C2-154239747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3118"/>
            <a:ext cx="10515599" cy="1325563"/>
          </a:xfrm>
        </p:spPr>
        <p:txBody>
          <a:bodyPr/>
          <a:lstStyle/>
          <a:p>
            <a:r>
              <a:rPr lang="en-US" altLang="ko-KR" dirty="0"/>
              <a:t>06  </a:t>
            </a:r>
            <a:r>
              <a:rPr lang="ko-KR" altLang="en-US" dirty="0" err="1"/>
              <a:t>느낀점</a:t>
            </a:r>
            <a:r>
              <a:rPr lang="ko-KR" altLang="en-US" dirty="0"/>
              <a:t> 및 애로사항</a:t>
            </a:r>
          </a:p>
        </p:txBody>
      </p:sp>
    </p:spTree>
    <p:extLst>
      <p:ext uri="{BB962C8B-B14F-4D97-AF65-F5344CB8AC3E}">
        <p14:creationId xmlns:p14="http://schemas.microsoft.com/office/powerpoint/2010/main" val="1000972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8557334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35000" y="1270000"/>
            <a:ext cx="10922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연구 배경: 반도체 장비의 딜레마</a:t>
            </a:r>
          </a:p>
          <a:p/>
          <a:p>
            <a:r>
              <a:t>• 생산성(UPH) 향상을 위해 모터 속도 증가 필수</a:t>
            </a:r>
          </a:p>
          <a:p>
            <a:r>
              <a:t>• 고속 이동 시 로봇 팔 끝단에 심각한 '잔류 진동(Residual Vibration)' 발생</a:t>
            </a:r>
          </a:p>
          <a:p>
            <a:r>
              <a:t>• 진동이 멈출 때까지 기다려야 하는 '정착 시간(Settling Time)'이 길어지면 전체 공정 시간 증가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35000" y="1270000"/>
            <a:ext cx="10922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2. 핵심 솔루션 1: 비대칭 S-Curve 궤적</a:t>
            </a:r>
          </a:p>
          <a:p/>
          <a:p>
            <a:r>
              <a:t>• 기존 사다리꼴(Trapezoidal) 궤적: 가속도 불연속으로 큰 저크(Jerk) 발생</a:t>
            </a:r>
          </a:p>
          <a:p>
            <a:r>
              <a:t>• AS-Curve (비대칭 S-Curve) 적용:</a:t>
            </a:r>
          </a:p>
          <a:p>
            <a:r>
              <a:t>  - 가속 구간: 빠르게 도달</a:t>
            </a:r>
          </a:p>
          <a:p>
            <a:r>
              <a:t>  - 감속 구간: 부드럽게 정지 (Beta, Gamma 파라미터 최적화)</a:t>
            </a:r>
          </a:p>
          <a:p>
            <a:r>
              <a:t>• 물리적 충격량 최소화 입증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35000" y="1270000"/>
            <a:ext cx="10922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3. 핵심 솔루션 2: Input Shaping 제어</a:t>
            </a:r>
          </a:p>
          <a:p/>
          <a:p>
            <a:r>
              <a:t>• 파동의 상쇄 간섭 원리 활용</a:t>
            </a:r>
          </a:p>
          <a:p>
            <a:r>
              <a:t>• 첫 번째 충격으로 발생한 진동을, 두 번째 충격(임펄스)으로 정확히 상쇄(Cancel out)</a:t>
            </a:r>
          </a:p>
          <a:p>
            <a:r>
              <a:t>• 로봇 팔의 고유진동수(fn)와 감쇠비(zeta)를 계산하여 맞춤형 쉐이퍼 설계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35000" y="1270000"/>
            <a:ext cx="10922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4. 디지털 트윈 및 AI 자동 튜닝 개발</a:t>
            </a:r>
          </a:p>
          <a:p/>
          <a:p>
            <a:r>
              <a:t>• 이론적 계산을 넘어 실제 3D 시뮬레이션 환경(Digital Twin) 구현</a:t>
            </a:r>
          </a:p>
          <a:p>
            <a:r>
              <a:t>• 4가지 고해상도 실시간 분석 차트 탑재</a:t>
            </a:r>
          </a:p>
          <a:p>
            <a:r>
              <a:t>• AI 최적화 (Particle Swarm Optimization):</a:t>
            </a:r>
          </a:p>
          <a:p>
            <a:r>
              <a:t>  - 사람이 찾기 힘든 최적의 변수를 백그라운드에서 자동 탐색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35000" y="1270000"/>
            <a:ext cx="10922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5. 결과 분석 및 기대효과</a:t>
            </a:r>
          </a:p>
          <a:p/>
          <a:p>
            <a:r>
              <a:t>• [결과] 제어 미적용 시 대비 정착 시간 대폭 감소 및 진동 제거 확인</a:t>
            </a:r>
          </a:p>
          <a:p>
            <a:r>
              <a:t>• [효과] 오프라인 환경에서 모터 파라미터 사전 튜닝 가능</a:t>
            </a:r>
          </a:p>
          <a:p>
            <a:r>
              <a:t>• [결론] 장비 셋업 시간 단축 및 실질적 UPH 향상에 기여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50</Words>
  <Application>Microsoft Office PowerPoint</Application>
  <PresentationFormat>와이드스크린</PresentationFormat>
  <Paragraphs>21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210 옴니고딕 030</vt:lpstr>
      <vt:lpstr>맑은 고딕</vt:lpstr>
      <vt:lpstr>Arial</vt:lpstr>
      <vt:lpstr>Office 테마</vt:lpstr>
      <vt:lpstr>팀명</vt:lpstr>
      <vt:lpstr>PowerPoint 프레젠테이션</vt:lpstr>
      <vt:lpstr>01  프로젝트 제작동기</vt:lpstr>
      <vt:lpstr>02  프로젝트 제작과정</vt:lpstr>
      <vt:lpstr>02  프로젝트 제작과정</vt:lpstr>
      <vt:lpstr>03  작품설명</vt:lpstr>
      <vt:lpstr>04  프로젝트 결과</vt:lpstr>
      <vt:lpstr>05  결과분석 및 토의</vt:lpstr>
      <vt:lpstr>06  느낀점 및 애로사항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HOSEO</dc:creator>
  <cp:lastModifiedBy>HOSEO</cp:lastModifiedBy>
  <cp:revision>32</cp:revision>
  <dcterms:created xsi:type="dcterms:W3CDTF">2024-11-07T00:27:54Z</dcterms:created>
  <dcterms:modified xsi:type="dcterms:W3CDTF">2026-05-12T07:50:59Z</dcterms:modified>
  <cp:version/>
</cp:coreProperties>
</file>