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handoutMasterIdLst>
    <p:handoutMasterId r:id="rId12"/>
  </p:handoutMasterIdLst>
  <p:sldIdLst>
    <p:sldId id="260" r:id="rId2"/>
    <p:sldId id="261" r:id="rId3"/>
    <p:sldId id="271" r:id="rId4"/>
    <p:sldId id="272" r:id="rId5"/>
    <p:sldId id="276" r:id="rId6"/>
    <p:sldId id="264" r:id="rId7"/>
    <p:sldId id="293" r:id="rId8"/>
    <p:sldId id="266" r:id="rId9"/>
    <p:sldId id="294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FA2"/>
    <a:srgbClr val="487483"/>
    <a:srgbClr val="81AAB9"/>
    <a:srgbClr val="424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DA15C2-8ACE-4434-93D0-55D3D07A215C}" v="724" dt="2024-12-01T14:57:58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>
        <p:guide orient="horz" pos="2159"/>
        <p:guide pos="3839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86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70ECF07-8B4A-4D05-994F-50188D0885BA}" type="datetime1">
              <a:rPr lang="ko-KR" altLang="en-US"/>
              <a:pPr lvl="0">
                <a:defRPr/>
              </a:pPr>
              <a:t>2026-05-12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51F3090-DBC0-4A7E-9680-4EB6FB727F4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microsoft.com/office/2007/relationships/hdphoto" Target="../media/hdphoto3.wdp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3C40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AB8BC8DA-946C-49A7-A054-82D74E62E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</a:blip>
          <a:srcRect r="7371"/>
          <a:stretch/>
        </p:blipFill>
        <p:spPr>
          <a:xfrm rot="-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3746C753-439E-4876-A7B3-3C02ED64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438" y="3682629"/>
            <a:ext cx="3190187" cy="788142"/>
          </a:xfrm>
        </p:spPr>
        <p:txBody>
          <a:bodyPr>
            <a:noAutofit/>
          </a:bodyPr>
          <a:lstStyle>
            <a:lvl1pPr>
              <a:defRPr sz="3600">
                <a:ln w="19050">
                  <a:solidFill>
                    <a:schemeClr val="tx1"/>
                  </a:solidFill>
                </a:ln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39EEEEE-FBB4-4F58-A264-9D35CEF2EC9D}"/>
              </a:ext>
            </a:extLst>
          </p:cNvPr>
          <p:cNvSpPr txBox="1"/>
          <p:nvPr userDrawn="1"/>
        </p:nvSpPr>
        <p:spPr>
          <a:xfrm>
            <a:off x="479393" y="325748"/>
            <a:ext cx="4968907" cy="17764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2880"/>
              </a:lnSpc>
            </a:pPr>
            <a:r>
              <a:rPr lang="en-US" sz="4400" b="1" i="0" u="none" strike="noStrike" spc="-100" dirty="0">
                <a:ln w="9525">
                  <a:solidFill>
                    <a:srgbClr val="74A4CE"/>
                  </a:solidFill>
                </a:ln>
                <a:solidFill>
                  <a:srgbClr val="74A4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 </a:t>
            </a:r>
            <a:r>
              <a:rPr lang="ko-KR" sz="4400" b="1" i="0" u="none" strike="noStrike" spc="-100" dirty="0">
                <a:ln w="9525">
                  <a:solidFill>
                    <a:srgbClr val="74A4CE"/>
                  </a:solidFill>
                </a:ln>
                <a:solidFill>
                  <a:srgbClr val="74A4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산학프로젝트</a:t>
            </a:r>
          </a:p>
          <a:p>
            <a:pPr lvl="0" algn="l">
              <a:lnSpc>
                <a:spcPct val="112880"/>
              </a:lnSpc>
            </a:pPr>
            <a:r>
              <a:rPr lang="ko-KR" sz="4400" b="1" i="0" u="none" strike="noStrike" spc="-100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sz="4400" b="1" i="0" u="none" strike="noStrike" spc="-100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sz="4400" b="1" i="0" u="none" strike="noStrike" spc="-100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결과보고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C4337F45-DFF6-43E6-92F6-0AEEC8AA50AC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67838" y="4554669"/>
            <a:ext cx="4320000" cy="54000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DD19DF55-7175-4851-BEC5-497B6530B669}"/>
              </a:ext>
            </a:extLst>
          </p:cNvPr>
          <p:cNvSpPr txBox="1"/>
          <p:nvPr userDrawn="1"/>
        </p:nvSpPr>
        <p:spPr>
          <a:xfrm>
            <a:off x="7322095" y="3670740"/>
            <a:ext cx="865743" cy="99774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880"/>
              </a:lnSpc>
            </a:pPr>
            <a:r>
              <a:rPr lang="ko-KR" sz="4800" b="0" i="0" u="none" strike="noStrike" spc="-100" dirty="0">
                <a:ln w="19050"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73CDF0A-8B81-4BD9-9B1E-B0E760BC0FDD}"/>
              </a:ext>
            </a:extLst>
          </p:cNvPr>
          <p:cNvSpPr txBox="1"/>
          <p:nvPr userDrawn="1"/>
        </p:nvSpPr>
        <p:spPr>
          <a:xfrm>
            <a:off x="10382250" y="6280150"/>
            <a:ext cx="169545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2880"/>
              </a:lnSpc>
            </a:pPr>
            <a:r>
              <a:rPr lang="en-US" sz="1800" b="0" i="0" u="none" strike="noStrike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2026.06.19.(</a:t>
            </a:r>
            <a:r>
              <a:rPr lang="ko-KR" altLang="en-US" sz="1800" b="0" i="0" u="none" strike="noStrike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</a:t>
            </a:r>
            <a:r>
              <a:rPr lang="en-US" sz="1800" b="0" i="0" u="none" strike="noStrike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2895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7D9DDD6A-9D12-4EE4-9FAC-4242E9BB11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8100"/>
            <a:ext cx="3011212" cy="6896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70E697-50EE-4212-BD5E-A4FD5BFE2221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84539"/>
            <a:ext cx="1800000" cy="25400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734025E3-9BAC-4496-99C5-BDCAB26C77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488537" y="709939"/>
            <a:ext cx="8381933" cy="545519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AD08F-F24E-4D4B-B524-914D4D01D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667" y="1076831"/>
            <a:ext cx="7866045" cy="4873625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ED95B35E-AD12-4786-9833-9C8CDBA9B08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제목 1">
            <a:extLst>
              <a:ext uri="{FF2B5EF4-FFF2-40B4-BE49-F238E27FC236}">
                <a16:creationId xmlns:a16="http://schemas.microsoft.com/office/drawing/2014/main" id="{5577DED6-D0B4-4A71-AE49-83F1CFDD9EF4}"/>
              </a:ext>
            </a:extLst>
          </p:cNvPr>
          <p:cNvSpPr txBox="1">
            <a:spLocks/>
          </p:cNvSpPr>
          <p:nvPr userDrawn="1"/>
        </p:nvSpPr>
        <p:spPr>
          <a:xfrm>
            <a:off x="321530" y="769796"/>
            <a:ext cx="14784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210 옴니고딕 050" panose="02020503020101020101" pitchFamily="18" charset="-127"/>
                <a:ea typeface="210 옴니고딕 050" panose="02020503020101020101" pitchFamily="18" charset="-127"/>
                <a:cs typeface="+mj-cs"/>
              </a:defRPr>
            </a:lvl1pPr>
          </a:lstStyle>
          <a:p>
            <a:pPr algn="ctr"/>
            <a:r>
              <a:rPr lang="ko-KR" altLang="en-US" sz="4400" b="1" spc="-150" dirty="0">
                <a:ln w="12700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목 차</a:t>
            </a:r>
          </a:p>
        </p:txBody>
      </p:sp>
    </p:spTree>
    <p:extLst>
      <p:ext uri="{BB962C8B-B14F-4D97-AF65-F5344CB8AC3E}">
        <p14:creationId xmlns:p14="http://schemas.microsoft.com/office/powerpoint/2010/main" val="295270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473534-C63C-4BE2-8AE1-910B0CFD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DE581D8D-0164-42BB-AE04-13DC9D8AE67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1482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4F84803-E557-424A-8CE8-D655ADAB7A0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BBB87C3-C98E-40EB-AE97-7D085E7C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5161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88D22A9-5ABA-4F30-991F-80E7F946C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7840FE-AACF-4A0B-B0B9-70DC06F6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9BB8-66FC-4838-9828-E9D93A1C9099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28AC32-0DC9-4FB2-929A-67CB3591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5A879E-7FCF-4C5B-B0C5-A405B1DE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627E-578B-48BF-9FB7-A4694A46FC6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A49051-3614-40BE-A95C-832BAF0A159C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329C7BA-27D7-4A04-B2DE-5FAF9886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7672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D46186D-573A-4905-BFBD-DFC37B18013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3F2C02C0-6C0F-4E28-966B-FD31BF9D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8171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F376951-512D-46E5-8E87-250E5DE788F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467E0C06-D8D8-4121-864B-A5F73D6D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1817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8352E24-4DA0-4BD0-B268-ADB5D29051E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F189A157-3EDF-4157-89F9-327B9642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2844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7483F9B2-6A25-44F7-9C63-38D9DD2BB41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CC31740-3374-43BF-894C-368C8DDD4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8673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4495ED8-C5DE-43B4-A59A-34D7C3B6FC5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E0CF941-EEB9-4BDA-B2F3-4A33AE87DC1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955EC6B2-1927-4116-A0AD-57672D95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5796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7A2AB65-7684-4324-B196-EDEB7D9C094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FA2882F-C66D-4CCC-9019-8A1BB01FD03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1EC711E8-D0C3-41A8-87E1-9D593FBC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85113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F97F722D-593E-4596-9C86-3680CC09A43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46651367-6207-4BEA-9DDC-6AFD6411AF1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7E0AACDF-9E29-485F-B744-819F3EF0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43689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8FE58CB-093B-428D-81BB-2BDEC4994D2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7B7A1B8A-E825-47CD-896C-5A1A68F268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6BD8E8C0-2800-4C8A-B578-F088300D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06413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2334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3F9ED06-9F9C-4BFF-899D-D37917898C1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BC891D15-29EB-4AAE-AE2E-1787AD9BB7C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56A1C9BB-0B32-4D5A-9C44-1028C9D7E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7744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9CA52D79-F1AF-430C-B115-FECA21D08AA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5396DA61-DD5C-4E73-AD03-288E2A42DB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8ACA527-9142-49DE-A842-9358B001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05170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3C40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14A5B1FA-F86E-410B-AF4F-12669E5EB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</a:blip>
          <a:srcRect r="7371"/>
          <a:stretch/>
        </p:blipFill>
        <p:spPr>
          <a:xfrm rot="-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DD19DF55-7175-4851-BEC5-497B6530B669}"/>
              </a:ext>
            </a:extLst>
          </p:cNvPr>
          <p:cNvSpPr txBox="1"/>
          <p:nvPr userDrawn="1"/>
        </p:nvSpPr>
        <p:spPr>
          <a:xfrm>
            <a:off x="3901581" y="2930129"/>
            <a:ext cx="4388836" cy="99774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880"/>
              </a:lnSpc>
            </a:pPr>
            <a:r>
              <a:rPr lang="ko-KR" altLang="en-US" sz="5400" b="1" i="0" u="none" strike="noStrike" spc="-100" dirty="0">
                <a:ln w="19050"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ko-KR" sz="5400" b="1" i="0" u="none" strike="noStrike" spc="-100" dirty="0">
              <a:ln w="19050">
                <a:solidFill>
                  <a:schemeClr val="tx1"/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3124CA4-27E4-4554-9E04-CC1D552CF804}"/>
              </a:ext>
            </a:extLst>
          </p:cNvPr>
          <p:cNvGrpSpPr/>
          <p:nvPr userDrawn="1"/>
        </p:nvGrpSpPr>
        <p:grpSpPr>
          <a:xfrm>
            <a:off x="268497" y="226317"/>
            <a:ext cx="1852404" cy="736947"/>
            <a:chOff x="268496" y="226317"/>
            <a:chExt cx="2037617" cy="81063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A141048-1F2B-4FFC-A3B5-42C8B0FD13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496" y="226317"/>
              <a:ext cx="2037617" cy="81063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899421F-BBC0-40C7-8EBB-8903FB1AD20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2141" b="56679"/>
            <a:stretch/>
          </p:blipFill>
          <p:spPr>
            <a:xfrm>
              <a:off x="268496" y="226317"/>
              <a:ext cx="365100" cy="3523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2644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D34EA0-DB69-4E40-ADBC-6BC7C89B3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E331F5-55C8-44E5-9E40-E310EEB8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3F115-27D0-46E0-A7C1-3CF2FF984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9BB8-66FC-4838-9828-E9D93A1C9099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76C4B-9F37-48BE-AE04-FF85EEFB4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5B87B5-D847-40F4-BBE8-8C3A1A057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F627E-578B-48BF-9FB7-A4694A46F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6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8" r:id="rId4"/>
    <p:sldLayoutId id="2147483668" r:id="rId5"/>
    <p:sldLayoutId id="2147483659" r:id="rId6"/>
    <p:sldLayoutId id="2147483660" r:id="rId7"/>
    <p:sldLayoutId id="2147483661" r:id="rId8"/>
    <p:sldLayoutId id="2147483662" r:id="rId9"/>
    <p:sldLayoutId id="214748365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7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D44CE-8F81-4775-A3DE-B79F06E9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500" y="3794811"/>
            <a:ext cx="3580245" cy="788142"/>
          </a:xfrm>
        </p:spPr>
        <p:txBody>
          <a:bodyPr/>
          <a:lstStyle/>
          <a:p>
            <a:r>
              <a:t>인풋쉐이핑 및 비대칭 S-curve 기반</a:t>
            </a:r>
          </a:p>
          <a:p>
            <a:r>
              <a:t>픽앤플레이스 갠트리 진동 제어 시스템 및 디지털 트윈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65D4-091C-4698-A347-B3F1E8A52F14}"/>
              </a:ext>
            </a:extLst>
          </p:cNvPr>
          <p:cNvSpPr txBox="1"/>
          <p:nvPr/>
        </p:nvSpPr>
        <p:spPr>
          <a:xfrm>
            <a:off x="909897" y="2383793"/>
            <a:ext cx="10372206" cy="74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2026년 산학프로젝트 최종보고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4ECE3EC-C628-4921-9D46-13AFDBEEC757}"/>
              </a:ext>
            </a:extLst>
          </p:cNvPr>
          <p:cNvSpPr txBox="1">
            <a:spLocks/>
          </p:cNvSpPr>
          <p:nvPr/>
        </p:nvSpPr>
        <p:spPr>
          <a:xfrm>
            <a:off x="9493779" y="5388661"/>
            <a:ext cx="2466975" cy="788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ko-KR" altLang="en-US" sz="1700" dirty="0">
                <a:ln w="12700">
                  <a:solidFill>
                    <a:schemeClr val="tx1"/>
                  </a:solidFill>
                </a:ln>
              </a:rPr>
              <a:t>지도교수</a:t>
            </a:r>
            <a:r>
              <a:rPr lang="en-US" altLang="ko-KR" sz="1700" dirty="0">
                <a:ln w="12700">
                  <a:solidFill>
                    <a:schemeClr val="tx1"/>
                  </a:solidFill>
                </a:ln>
              </a:rPr>
              <a:t>: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700" dirty="0">
                <a:ln w="12700">
                  <a:solidFill>
                    <a:schemeClr val="tx1"/>
                  </a:solidFill>
                </a:ln>
              </a:rPr>
              <a:t>참여기업</a:t>
            </a:r>
            <a:r>
              <a:rPr lang="en-US" altLang="ko-KR" sz="1700" dirty="0">
                <a:ln w="12700">
                  <a:solidFill>
                    <a:schemeClr val="tx1"/>
                  </a:solidFill>
                </a:ln>
              </a:rPr>
              <a:t>:</a:t>
            </a:r>
            <a:endParaRPr lang="ko-KR" altLang="en-US" sz="1700" dirty="0">
              <a:ln w="127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249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6CF6ABE-AAC6-4249-A9BF-815769E6E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667" y="1051431"/>
            <a:ext cx="7866045" cy="4873625"/>
          </a:xfrm>
        </p:spPr>
        <p:txBody>
          <a:bodyPr>
            <a:normAutofit lnSpcReduction="10000"/>
          </a:bodyPr>
          <a:lstStyle/>
          <a:p>
            <a:r>
              <a:t>1. 연구 배경 및 목적</a:t>
            </a:r>
          </a:p>
          <a:p>
            <a:r>
              <a:t>2. 시스템 하드웨어 구성</a:t>
            </a:r>
          </a:p>
          <a:p>
            <a:r>
              <a:t>3. 핵심 제어 알고리즘 (AS-Curve &amp; Input Shaping)</a:t>
            </a:r>
          </a:p>
          <a:p>
            <a:r>
              <a:t>4. 디지털 트윈 시뮬레이션</a:t>
            </a:r>
          </a:p>
          <a:p>
            <a:r>
              <a:t>5. 실험 결과 및 결론 (UPH 향상)</a:t>
            </a:r>
          </a:p>
        </p:txBody>
      </p:sp>
    </p:spTree>
    <p:extLst>
      <p:ext uri="{BB962C8B-B14F-4D97-AF65-F5344CB8AC3E}">
        <p14:creationId xmlns:p14="http://schemas.microsoft.com/office/powerpoint/2010/main" val="124164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681647-5B33-413F-A877-24C762A834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545526"/>
          </a:xfrm>
        </p:spPr>
        <p:txBody>
          <a:bodyPr/>
          <a:lstStyle/>
          <a:p>
            <a:r>
              <a:t>• 반도체 패키징 공정에서 생산성(UPH) 향상을 위해 고속 이송 필수</a:t>
            </a:r>
          </a:p>
          <a:p>
            <a:r>
              <a:t>• 고속 이동 시 갠트리 탑재 로봇팔 끝단에 심각한 '잔류 진동' 발생</a:t>
            </a:r>
          </a:p>
          <a:p>
            <a:r>
              <a:t>• 진동 수렴을 기다리는 '정착 시간'으로 인해 실질적 UPH 저하 및 플레이스 오차 발생</a:t>
            </a: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352D6379-53C2-4F0B-94B4-B184153C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/>
          <a:p>
            <a:r>
              <a:t>1. 연구 배경: 반도체 장비의 UPH 딜레마</a:t>
            </a:r>
          </a:p>
        </p:txBody>
      </p:sp>
      <p:graphicFrame>
        <p:nvGraphicFramePr>
          <p:cNvPr id="12" name="표 8">
            <a:extLst>
              <a:ext uri="{FF2B5EF4-FFF2-40B4-BE49-F238E27FC236}">
                <a16:creationId xmlns:a16="http://schemas.microsoft.com/office/drawing/2014/main" id="{2415E360-811D-4C2B-BAD2-249921FD8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897133"/>
              </p:ext>
            </p:extLst>
          </p:nvPr>
        </p:nvGraphicFramePr>
        <p:xfrm>
          <a:off x="6187261" y="2170899"/>
          <a:ext cx="5162547" cy="3943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050">
                  <a:extLst>
                    <a:ext uri="{9D8B030D-6E8A-4147-A177-3AD203B41FA5}">
                      <a16:colId xmlns:a16="http://schemas.microsoft.com/office/drawing/2014/main" val="542425359"/>
                    </a:ext>
                  </a:extLst>
                </a:gridCol>
                <a:gridCol w="1742136">
                  <a:extLst>
                    <a:ext uri="{9D8B030D-6E8A-4147-A177-3AD203B41FA5}">
                      <a16:colId xmlns:a16="http://schemas.microsoft.com/office/drawing/2014/main" val="526377014"/>
                    </a:ext>
                  </a:extLst>
                </a:gridCol>
                <a:gridCol w="2347361">
                  <a:extLst>
                    <a:ext uri="{9D8B030D-6E8A-4147-A177-3AD203B41FA5}">
                      <a16:colId xmlns:a16="http://schemas.microsoft.com/office/drawing/2014/main" val="850207076"/>
                    </a:ext>
                  </a:extLst>
                </a:gridCol>
              </a:tblGrid>
              <a:tr h="551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   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 및 수행내용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700386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449178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85199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05301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026838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271029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991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99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D4E99FE-FD46-40B0-8F40-0FD93025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4" y="273118"/>
            <a:ext cx="10517776" cy="1325563"/>
          </a:xfrm>
        </p:spPr>
        <p:txBody>
          <a:bodyPr/>
          <a:lstStyle/>
          <a:p>
            <a:r>
              <a:t>2. 시스템 하드웨어 및 통신 구조</a:t>
            </a:r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6C2C6767-7523-4A90-A575-13466820841E}"/>
              </a:ext>
            </a:extLst>
          </p:cNvPr>
          <p:cNvSpPr txBox="1">
            <a:spLocks/>
          </p:cNvSpPr>
          <p:nvPr/>
        </p:nvSpPr>
        <p:spPr>
          <a:xfrm>
            <a:off x="990601" y="2346960"/>
            <a:ext cx="10233660" cy="3710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제어부:</a:t>
            </a:r>
          </a:p>
          <a:p>
            <a:r>
              <a:t>  - STM32: 갠트리 X축 모션 제어 및 프로파일 생성</a:t>
            </a:r>
          </a:p>
          <a:p>
            <a:r>
              <a:t>  - Arduino: 다관절 로봇팔 제어</a:t>
            </a:r>
          </a:p>
          <a:p>
            <a:r>
              <a:t>  - UART 시리얼 통신으로 픽앤플레이스 동작 동기화</a:t>
            </a:r>
          </a:p>
          <a:p>
            <a:r>
              <a:t>• 센서부:</a:t>
            </a:r>
          </a:p>
          <a:p>
            <a:r>
              <a:t>  - MPU6050 IMU: 로봇팔 끝단에 부착하여 잔류 진동 가속도(g) 실시간 측정</a:t>
            </a:r>
          </a:p>
        </p:txBody>
      </p:sp>
    </p:spTree>
    <p:extLst>
      <p:ext uri="{BB962C8B-B14F-4D97-AF65-F5344CB8AC3E}">
        <p14:creationId xmlns:p14="http://schemas.microsoft.com/office/powerpoint/2010/main" val="289040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AD14-AA69-66A4-15E3-DE06DEC7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17AC5E-A390-CBB0-7301-FDCDE6BCB93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>
            <a:normAutofit/>
          </a:bodyPr>
          <a:lstStyle/>
          <a:p>
            <a:r>
              <a:t>① Trapezoidal: 일정 가감속, 높은 저크 발생 (비교 기준)</a:t>
            </a:r>
          </a:p>
          <a:p>
            <a:r>
              <a:t>② 비대칭 S-Curve: 가속 구간은 빠르게, 감속 구간은 부드럽게 설정하여 물리적 충격 저감</a:t>
            </a:r>
          </a:p>
          <a:p>
            <a:r>
              <a:t>③ Input Shaping + AS-Curve: 로봇의 고유진동수를 기반으로 ZV/ZVD 쉐이퍼를 설계하여 진동 자체를 원천 상쇄 (Cancel-out)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C52FD0E-4664-C123-321A-E2030F11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4" y="273118"/>
            <a:ext cx="10517776" cy="1325563"/>
          </a:xfrm>
        </p:spPr>
        <p:txBody>
          <a:bodyPr anchor="ctr">
            <a:normAutofit/>
          </a:bodyPr>
          <a:lstStyle/>
          <a:p>
            <a:r>
              <a:t>3. 핵심 제어 알고리즘: 단계별 모션 프로파일</a:t>
            </a:r>
          </a:p>
        </p:txBody>
      </p:sp>
    </p:spTree>
    <p:extLst>
      <p:ext uri="{BB962C8B-B14F-4D97-AF65-F5344CB8AC3E}">
        <p14:creationId xmlns:p14="http://schemas.microsoft.com/office/powerpoint/2010/main" val="341247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6558A-8F8D-4019-B552-F9B4D173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/>
          <a:p>
            <a:r>
              <a:t>4. 디지털 트윈 시뮬레이터 구축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3935D491-BCD3-40F9-8E42-2ADFB5CF5F46}"/>
              </a:ext>
            </a:extLst>
          </p:cNvPr>
          <p:cNvSpPr txBox="1">
            <a:spLocks/>
          </p:cNvSpPr>
          <p:nvPr/>
        </p:nvSpPr>
        <p:spPr>
          <a:xfrm>
            <a:off x="990601" y="2346960"/>
            <a:ext cx="10233660" cy="3710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이론 및 하드웨어 실험을 넘어 웹 기반 3D 디지털 트윈 구축</a:t>
            </a:r>
          </a:p>
          <a:p>
            <a:r>
              <a:t>• 고해상도 실시간 분석 차트 (위치, 속도, 가속도, 진동 오차)</a:t>
            </a:r>
          </a:p>
          <a:p>
            <a:r>
              <a:t>• AI 오토튜닝 (PSO 알고리즘) 적용:</a:t>
            </a:r>
          </a:p>
          <a:p>
            <a:r>
              <a:t>  - 갠트리의 한계 속도 내에서 최적의 파라미터(V_max, A_max, Beta, Gamma)를 자동 탐색</a:t>
            </a:r>
          </a:p>
        </p:txBody>
      </p:sp>
    </p:spTree>
    <p:extLst>
      <p:ext uri="{BB962C8B-B14F-4D97-AF65-F5344CB8AC3E}">
        <p14:creationId xmlns:p14="http://schemas.microsoft.com/office/powerpoint/2010/main" val="318404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AD14-AA69-66A4-15E3-DE06DEC7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C52FD0E-4664-C123-321A-E2030F11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4" y="273118"/>
            <a:ext cx="10517776" cy="1325563"/>
          </a:xfrm>
        </p:spPr>
        <p:txBody>
          <a:bodyPr anchor="ctr">
            <a:normAutofit/>
          </a:bodyPr>
          <a:lstStyle/>
          <a:p>
            <a:r>
              <a:t>5. 검증 결과 및 결론</a:t>
            </a:r>
          </a:p>
        </p:txBody>
      </p:sp>
    </p:spTree>
    <p:extLst>
      <p:ext uri="{BB962C8B-B14F-4D97-AF65-F5344CB8AC3E}">
        <p14:creationId xmlns:p14="http://schemas.microsoft.com/office/powerpoint/2010/main" val="243756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732CD98C-2524-490E-B091-37956DF6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/>
          <a:p>
            <a:r>
              <a:rPr lang="en-US" altLang="ko-KR" dirty="0"/>
              <a:t>05  </a:t>
            </a:r>
            <a:r>
              <a:rPr lang="ko-KR" altLang="en-US" dirty="0"/>
              <a:t>결과분석 및 토의</a:t>
            </a:r>
          </a:p>
        </p:txBody>
      </p:sp>
    </p:spTree>
    <p:extLst>
      <p:ext uri="{BB962C8B-B14F-4D97-AF65-F5344CB8AC3E}">
        <p14:creationId xmlns:p14="http://schemas.microsoft.com/office/powerpoint/2010/main" val="137963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2BF84C12-1F95-4BA7-B4F9-322B99ECC12D}"/>
              </a:ext>
            </a:extLst>
          </p:cNvPr>
          <p:cNvSpPr txBox="1">
            <a:spLocks/>
          </p:cNvSpPr>
          <p:nvPr/>
        </p:nvSpPr>
        <p:spPr>
          <a:xfrm>
            <a:off x="990601" y="2346960"/>
            <a:ext cx="10233660" cy="3710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2CBCBB7-3DD4-49C7-B3C2-15423974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/>
          <a:p>
            <a:r>
              <a:rPr lang="en-US" altLang="ko-KR" dirty="0"/>
              <a:t>06  </a:t>
            </a:r>
            <a:r>
              <a:rPr lang="ko-KR" altLang="en-US" dirty="0" err="1"/>
              <a:t>느낀점</a:t>
            </a:r>
            <a:r>
              <a:rPr lang="ko-KR" altLang="en-US" dirty="0"/>
              <a:t> 및 애로사항</a:t>
            </a:r>
          </a:p>
        </p:txBody>
      </p:sp>
    </p:spTree>
    <p:extLst>
      <p:ext uri="{BB962C8B-B14F-4D97-AF65-F5344CB8AC3E}">
        <p14:creationId xmlns:p14="http://schemas.microsoft.com/office/powerpoint/2010/main" val="1000972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55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50</Words>
  <Application>Microsoft Office PowerPoint</Application>
  <PresentationFormat>와이드스크린</PresentationFormat>
  <Paragraphs>21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210 옴니고딕 030</vt:lpstr>
      <vt:lpstr>맑은 고딕</vt:lpstr>
      <vt:lpstr>Arial</vt:lpstr>
      <vt:lpstr>Office 테마</vt:lpstr>
      <vt:lpstr>팀명</vt:lpstr>
      <vt:lpstr>PowerPoint 프레젠테이션</vt:lpstr>
      <vt:lpstr>01  프로젝트 제작동기</vt:lpstr>
      <vt:lpstr>02  프로젝트 제작과정</vt:lpstr>
      <vt:lpstr>02  프로젝트 제작과정</vt:lpstr>
      <vt:lpstr>03  작품설명</vt:lpstr>
      <vt:lpstr>04  프로젝트 결과</vt:lpstr>
      <vt:lpstr>05  결과분석 및 토의</vt:lpstr>
      <vt:lpstr>06  느낀점 및 애로사항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HOSEO</dc:creator>
  <cp:lastModifiedBy>HOSEO</cp:lastModifiedBy>
  <cp:revision>32</cp:revision>
  <dcterms:created xsi:type="dcterms:W3CDTF">2024-11-07T00:27:54Z</dcterms:created>
  <dcterms:modified xsi:type="dcterms:W3CDTF">2026-05-12T07:50:59Z</dcterms:modified>
  <cp:version/>
</cp:coreProperties>
</file>